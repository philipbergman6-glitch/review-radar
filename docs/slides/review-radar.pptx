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s] Name, course, the dataset in one breath. Move 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Read the question verbatim. It was fixed before any analysis ran (ADR-0001). A category manager owns a shelf and wants a shortlist, not a model.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Variant B, the narrow claim. The fork on candidate supply did not fire (708 matched candidates, rule is &lt; 3); the guard on measured quality did (THEMES_QUALITY macro-F1 0.4583 vs 0.70). Close with: '-- and here is why that narrowness is the result.'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Four V's, each with a measured figure. Velocity is a range on purpose: the host is shared and a point estimate would not reproduce.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Walk left to right. Postgres does three jobs: Iceberg catalogue (the atomic pointer swap an object store cannot do), JDBC enrichment source, and the run ledger. Then the exactly-once proof as a figure: make eos SIGKILLs bronze mid-stream and restarts from the checkpoint.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 The course names the gap itself in deck 5. We measure it in the same engine. H-E1 is NOT held: kNN alone does not beat BM25; the hybrid is where the gain is. Themes and RAG sit above the same retriever, run by a local qwen3:8b.</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[280 s] Switch to the notebook. Ten moves, one kernel: 260 s of moves + 20 s for the two surface switches. Backup if anything fails: docs/demo/ has the executed export.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ADR-0001: holdout + protocol freeze. ADR-0011: reproducibility gates block, quality is reported and never reopens a phase. The audit set was opened once. Two gates re-derive the tables in pandas sharing no code with the Spark jobs.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 The alert rate is the number; the detection rate is the caveat. Both FAILs are measured misses against bars set beforehand, published rather than hidden. 'The rule finds declining products' does not follow and is not claimed.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Say the four declines out loud in these words. Kafka Connect was the schedule, not the merits. Oozie is an opinion and I own it as 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C85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011680"/>
            <a:ext cx="10058400" cy="1097280"/>
          </a:xfrm>
          <a:prstGeom prst="rect">
            <a:avLst/>
          </a:prstGeom>
          <a:noFill/>
        </p:spPr>
        <p:txBody>
          <a:bodyPr wrap="square" anchor="t" lIns="0" rIns="0" tIns="0" bIns="0">
            <a:spAutoFit/>
          </a:bodyPr>
          <a:lstStyle/>
          <a:p>
            <a:pPr algn="l">
              <a:lnSpc>
                <a:spcPct val="108000"/>
              </a:lnSpc>
              <a:spcAft>
                <a:spcPts val="0"/>
              </a:spcAft>
            </a:pPr>
            <a:r>
              <a:rPr sz="6600" b="1">
                <a:solidFill>
                  <a:srgbClr val="14213D"/>
                </a:solidFill>
                <a:latin typeface="Arial"/>
              </a:rPr>
              <a:t>Review Radar</a:t>
            </a:r>
          </a:p>
        </p:txBody>
      </p:sp>
      <p:sp>
        <p:nvSpPr>
          <p:cNvPr id="4" name="TextBox 3"/>
          <p:cNvSpPr txBox="1"/>
          <p:nvPr/>
        </p:nvSpPr>
        <p:spPr>
          <a:xfrm>
            <a:off x="1097280" y="3154680"/>
            <a:ext cx="10058400" cy="548640"/>
          </a:xfrm>
          <a:prstGeom prst="rect">
            <a:avLst/>
          </a:prstGeom>
          <a:noFill/>
        </p:spPr>
        <p:txBody>
          <a:bodyPr wrap="square" anchor="t" lIns="0" rIns="0" tIns="0" bIns="0">
            <a:spAutoFit/>
          </a:bodyPr>
          <a:lstStyle/>
          <a:p>
            <a:pPr algn="l">
              <a:lnSpc>
                <a:spcPct val="108000"/>
              </a:lnSpc>
              <a:spcAft>
                <a:spcPts val="0"/>
              </a:spcAft>
            </a:pPr>
            <a:r>
              <a:rPr sz="2200" b="0">
                <a:solidFill>
                  <a:srgbClr val="5B6472"/>
                </a:solidFill>
                <a:latin typeface="Arial"/>
              </a:rPr>
              <a:t>Streaming review intelligence: which products are declining, and what are people complaining about?</a:t>
            </a:r>
          </a:p>
        </p:txBody>
      </p:sp>
      <p:sp>
        <p:nvSpPr>
          <p:cNvPr id="5" name="TextBox 4"/>
          <p:cNvSpPr txBox="1"/>
          <p:nvPr/>
        </p:nvSpPr>
        <p:spPr>
          <a:xfrm>
            <a:off x="1097280" y="4846320"/>
            <a:ext cx="10058400" cy="914400"/>
          </a:xfrm>
          <a:prstGeom prst="rect">
            <a:avLst/>
          </a:prstGeom>
          <a:noFill/>
        </p:spPr>
        <p:txBody>
          <a:bodyPr wrap="square" anchor="t" lIns="0" rIns="0" tIns="0" bIns="0">
            <a:spAutoFit/>
          </a:bodyPr>
          <a:lstStyle/>
          <a:p>
            <a:pPr algn="l">
              <a:lnSpc>
                <a:spcPct val="130000"/>
              </a:lnSpc>
              <a:spcAft>
                <a:spcPts val="0"/>
              </a:spcAft>
            </a:pPr>
            <a:r>
              <a:rPr sz="1600" b="0">
                <a:solidFill>
                  <a:srgbClr val="14213D"/>
                </a:solidFill>
                <a:latin typeface="Arial"/>
              </a:rPr>
              <a:t>Amazon Reviews 2023 · All_Beauty · 701,528 reviews</a:t>
            </a:r>
          </a:p>
          <a:p>
            <a:pPr algn="l">
              <a:lnSpc>
                <a:spcPct val="130000"/>
              </a:lnSpc>
              <a:spcAft>
                <a:spcPts val="0"/>
              </a:spcAft>
            </a:pPr>
            <a:r>
              <a:rPr sz="1600" b="0">
                <a:solidFill>
                  <a:srgbClr val="14213D"/>
                </a:solidFill>
                <a:latin typeface="Arial"/>
              </a:rPr>
              <a:t>Philip Bergman · BIU 8688697201, Big Data and AI · final project (solo)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40080" y="457200"/>
            <a:ext cx="10911535" cy="822960"/>
          </a:xfrm>
          <a:prstGeom prst="rect">
            <a:avLst/>
          </a:prstGeom>
          <a:noFill/>
        </p:spPr>
        <p:txBody>
          <a:bodyPr wrap="square" anchor="t" lIns="0" rIns="0" tIns="0" bIns="0">
            <a:spAutoFit/>
          </a:bodyPr>
          <a:lstStyle/>
          <a:p>
            <a:pPr algn="l">
              <a:lnSpc>
                <a:spcPct val="108000"/>
              </a:lnSpc>
              <a:spcAft>
                <a:spcPts val="0"/>
              </a:spcAft>
            </a:pPr>
            <a:r>
              <a:rPr sz="3200" b="1">
                <a:solidFill>
                  <a:srgbClr val="14213D"/>
                </a:solidFill>
                <a:latin typeface="Arial"/>
              </a:rPr>
              <a:t>The question, and who asks it</a:t>
            </a:r>
          </a:p>
        </p:txBody>
      </p:sp>
      <p:sp>
        <p:nvSpPr>
          <p:cNvPr id="3" name="Rectangle 2"/>
          <p:cNvSpPr/>
          <p:nvPr/>
        </p:nvSpPr>
        <p:spPr>
          <a:xfrm>
            <a:off x="640080" y="1207008"/>
            <a:ext cx="822960" cy="54864"/>
          </a:xfrm>
          <a:prstGeom prst="rect">
            <a:avLst/>
          </a:prstGeom>
          <a:solidFill>
            <a:srgbClr val="C85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08415" y="6355080"/>
            <a:ext cx="2743200" cy="274320"/>
          </a:xfrm>
          <a:prstGeom prst="rect">
            <a:avLst/>
          </a:prstGeom>
          <a:noFill/>
        </p:spPr>
        <p:txBody>
          <a:bodyPr wrap="square" anchor="t" lIns="0" rIns="0" tIns="0" bIns="0">
            <a:spAutoFit/>
          </a:bodyPr>
          <a:lstStyle/>
          <a:p>
            <a:pPr algn="r">
              <a:lnSpc>
                <a:spcPct val="108000"/>
              </a:lnSpc>
              <a:spcAft>
                <a:spcPts val="0"/>
              </a:spcAft>
            </a:pPr>
            <a:r>
              <a:rPr sz="1000" b="0">
                <a:solidFill>
                  <a:srgbClr val="5B6472"/>
                </a:solidFill>
                <a:latin typeface="Arial"/>
              </a:rPr>
              <a:t>Review Radar · 1</a:t>
            </a:r>
          </a:p>
        </p:txBody>
      </p:sp>
      <p:sp>
        <p:nvSpPr>
          <p:cNvPr id="5" name="Rectangle 4"/>
          <p:cNvSpPr/>
          <p:nvPr/>
        </p:nvSpPr>
        <p:spPr>
          <a:xfrm>
            <a:off x="640080" y="1691640"/>
            <a:ext cx="73152" cy="1737360"/>
          </a:xfrm>
          <a:prstGeom prst="rect">
            <a:avLst/>
          </a:prstGeom>
          <a:solidFill>
            <a:srgbClr val="C85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45920"/>
            <a:ext cx="10545775" cy="1828800"/>
          </a:xfrm>
          <a:prstGeom prst="rect">
            <a:avLst/>
          </a:prstGeom>
          <a:noFill/>
        </p:spPr>
        <p:txBody>
          <a:bodyPr wrap="square" anchor="t" lIns="0" rIns="0" tIns="0" bIns="0">
            <a:spAutoFit/>
          </a:bodyPr>
          <a:lstStyle/>
          <a:p>
            <a:pPr algn="l">
              <a:lnSpc>
                <a:spcPct val="115000"/>
              </a:lnSpc>
              <a:spcAft>
                <a:spcPts val="0"/>
              </a:spcAft>
            </a:pPr>
            <a:r>
              <a:rPr sz="3200" b="1">
                <a:solidFill>
                  <a:srgbClr val="14213D"/>
                </a:solidFill>
                <a:latin typeface="Arial"/>
              </a:rPr>
              <a:t>Which products experienced a sustained decline in customer ratings, and which complaint themes increased during that decline?</a:t>
            </a:r>
          </a:p>
        </p:txBody>
      </p:sp>
      <p:sp>
        <p:nvSpPr>
          <p:cNvPr id="7" name="TextBox 6"/>
          <p:cNvSpPr txBox="1"/>
          <p:nvPr/>
        </p:nvSpPr>
        <p:spPr>
          <a:xfrm>
            <a:off x="1005840" y="3611880"/>
            <a:ext cx="10545775" cy="457200"/>
          </a:xfrm>
          <a:prstGeom prst="rect">
            <a:avLst/>
          </a:prstGeom>
          <a:noFill/>
        </p:spPr>
        <p:txBody>
          <a:bodyPr wrap="square" anchor="t" lIns="0" rIns="0" tIns="0" bIns="0">
            <a:spAutoFit/>
          </a:bodyPr>
          <a:lstStyle/>
          <a:p>
            <a:pPr algn="l">
              <a:lnSpc>
                <a:spcPct val="108000"/>
              </a:lnSpc>
              <a:spcAft>
                <a:spcPts val="0"/>
              </a:spcAft>
            </a:pPr>
            <a:r>
              <a:rPr sz="1800" b="0">
                <a:solidFill>
                  <a:srgbClr val="5B6472"/>
                </a:solidFill>
                <a:latin typeface="Arial"/>
              </a:rPr>
              <a:t>Asked by a category manager. Fixed before the analysis was run.</a:t>
            </a:r>
          </a:p>
        </p:txBody>
      </p:sp>
      <p:sp>
        <p:nvSpPr>
          <p:cNvPr id="8" name="Rectangle 7"/>
          <p:cNvSpPr/>
          <p:nvPr/>
        </p:nvSpPr>
        <p:spPr>
          <a:xfrm>
            <a:off x="640080" y="4480560"/>
            <a:ext cx="3474720" cy="1463040"/>
          </a:xfrm>
          <a:prstGeom prst="rect">
            <a:avLst/>
          </a:prstGeom>
          <a:solidFill>
            <a:srgbClr val="EE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4480560"/>
            <a:ext cx="64008" cy="146304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645152"/>
            <a:ext cx="3108960" cy="640080"/>
          </a:xfrm>
          <a:prstGeom prst="rect">
            <a:avLst/>
          </a:prstGeom>
          <a:noFill/>
        </p:spPr>
        <p:txBody>
          <a:bodyPr wrap="square" anchor="t" lIns="0" rIns="0" tIns="0" bIns="0">
            <a:spAutoFit/>
          </a:bodyPr>
          <a:lstStyle/>
          <a:p>
            <a:pPr algn="l">
              <a:lnSpc>
                <a:spcPct val="108000"/>
              </a:lnSpc>
              <a:spcAft>
                <a:spcPts val="0"/>
              </a:spcAft>
            </a:pPr>
            <a:r>
              <a:rPr sz="3000" b="1">
                <a:solidFill>
                  <a:srgbClr val="14213D"/>
                </a:solidFill>
                <a:latin typeface="Arial"/>
              </a:rPr>
              <a:t>701,528</a:t>
            </a:r>
          </a:p>
        </p:txBody>
      </p:sp>
      <p:sp>
        <p:nvSpPr>
          <p:cNvPr id="11" name="TextBox 10"/>
          <p:cNvSpPr txBox="1"/>
          <p:nvPr/>
        </p:nvSpPr>
        <p:spPr>
          <a:xfrm>
            <a:off x="868680" y="5216652"/>
            <a:ext cx="3108960" cy="548640"/>
          </a:xfrm>
          <a:prstGeom prst="rect">
            <a:avLst/>
          </a:prstGeom>
          <a:noFill/>
        </p:spPr>
        <p:txBody>
          <a:bodyPr wrap="square" anchor="t" lIns="0" rIns="0" tIns="0" bIns="0">
            <a:spAutoFit/>
          </a:bodyPr>
          <a:lstStyle/>
          <a:p>
            <a:pPr algn="l">
              <a:lnSpc>
                <a:spcPct val="108000"/>
              </a:lnSpc>
              <a:spcAft>
                <a:spcPts val="0"/>
              </a:spcAft>
            </a:pPr>
            <a:r>
              <a:rPr sz="1500" b="0">
                <a:solidFill>
                  <a:srgbClr val="5B6472"/>
                </a:solidFill>
                <a:latin typeface="Arial"/>
              </a:rPr>
              <a:t>reviews</a:t>
            </a:r>
          </a:p>
        </p:txBody>
      </p:sp>
      <p:sp>
        <p:nvSpPr>
          <p:cNvPr id="12" name="Rectangle 11"/>
          <p:cNvSpPr/>
          <p:nvPr/>
        </p:nvSpPr>
        <p:spPr>
          <a:xfrm>
            <a:off x="4343400" y="4480560"/>
            <a:ext cx="3474720" cy="1463040"/>
          </a:xfrm>
          <a:prstGeom prst="rect">
            <a:avLst/>
          </a:prstGeom>
          <a:solidFill>
            <a:srgbClr val="EE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4480560"/>
            <a:ext cx="64008" cy="146304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4645152"/>
            <a:ext cx="3108960" cy="640080"/>
          </a:xfrm>
          <a:prstGeom prst="rect">
            <a:avLst/>
          </a:prstGeom>
          <a:noFill/>
        </p:spPr>
        <p:txBody>
          <a:bodyPr wrap="square" anchor="t" lIns="0" rIns="0" tIns="0" bIns="0">
            <a:spAutoFit/>
          </a:bodyPr>
          <a:lstStyle/>
          <a:p>
            <a:pPr algn="l">
              <a:lnSpc>
                <a:spcPct val="108000"/>
              </a:lnSpc>
              <a:spcAft>
                <a:spcPts val="0"/>
              </a:spcAft>
            </a:pPr>
            <a:r>
              <a:rPr sz="3000" b="1">
                <a:solidFill>
                  <a:srgbClr val="14213D"/>
                </a:solidFill>
                <a:latin typeface="Arial"/>
              </a:rPr>
              <a:t>112,590</a:t>
            </a:r>
          </a:p>
        </p:txBody>
      </p:sp>
      <p:sp>
        <p:nvSpPr>
          <p:cNvPr id="15" name="TextBox 14"/>
          <p:cNvSpPr txBox="1"/>
          <p:nvPr/>
        </p:nvSpPr>
        <p:spPr>
          <a:xfrm>
            <a:off x="4572000" y="5216652"/>
            <a:ext cx="3108960" cy="548640"/>
          </a:xfrm>
          <a:prstGeom prst="rect">
            <a:avLst/>
          </a:prstGeom>
          <a:noFill/>
        </p:spPr>
        <p:txBody>
          <a:bodyPr wrap="square" anchor="t" lIns="0" rIns="0" tIns="0" bIns="0">
            <a:spAutoFit/>
          </a:bodyPr>
          <a:lstStyle/>
          <a:p>
            <a:pPr algn="l">
              <a:lnSpc>
                <a:spcPct val="108000"/>
              </a:lnSpc>
              <a:spcAft>
                <a:spcPts val="0"/>
              </a:spcAft>
            </a:pPr>
            <a:r>
              <a:rPr sz="1500" b="0">
                <a:solidFill>
                  <a:srgbClr val="5B6472"/>
                </a:solidFill>
                <a:latin typeface="Arial"/>
              </a:rPr>
              <a:t>catalogue products</a:t>
            </a:r>
          </a:p>
        </p:txBody>
      </p:sp>
      <p:sp>
        <p:nvSpPr>
          <p:cNvPr id="16" name="Rectangle 15"/>
          <p:cNvSpPr/>
          <p:nvPr/>
        </p:nvSpPr>
        <p:spPr>
          <a:xfrm>
            <a:off x="8046719" y="4480560"/>
            <a:ext cx="3474720" cy="1463040"/>
          </a:xfrm>
          <a:prstGeom prst="rect">
            <a:avLst/>
          </a:prstGeom>
          <a:solidFill>
            <a:srgbClr val="EE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19" y="4480560"/>
            <a:ext cx="64008" cy="146304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19" y="4645152"/>
            <a:ext cx="3108960" cy="640080"/>
          </a:xfrm>
          <a:prstGeom prst="rect">
            <a:avLst/>
          </a:prstGeom>
          <a:noFill/>
        </p:spPr>
        <p:txBody>
          <a:bodyPr wrap="square" anchor="t" lIns="0" rIns="0" tIns="0" bIns="0">
            <a:spAutoFit/>
          </a:bodyPr>
          <a:lstStyle/>
          <a:p>
            <a:pPr algn="l">
              <a:lnSpc>
                <a:spcPct val="108000"/>
              </a:lnSpc>
              <a:spcAft>
                <a:spcPts val="0"/>
              </a:spcAft>
            </a:pPr>
            <a:r>
              <a:rPr sz="3000" b="1">
                <a:solidFill>
                  <a:srgbClr val="14213D"/>
                </a:solidFill>
                <a:latin typeface="Arial"/>
              </a:rPr>
              <a:t>2000 → 2023</a:t>
            </a:r>
          </a:p>
        </p:txBody>
      </p:sp>
      <p:sp>
        <p:nvSpPr>
          <p:cNvPr id="19" name="TextBox 18"/>
          <p:cNvSpPr txBox="1"/>
          <p:nvPr/>
        </p:nvSpPr>
        <p:spPr>
          <a:xfrm>
            <a:off x="8275319" y="5216652"/>
            <a:ext cx="3108960" cy="548640"/>
          </a:xfrm>
          <a:prstGeom prst="rect">
            <a:avLst/>
          </a:prstGeom>
          <a:noFill/>
        </p:spPr>
        <p:txBody>
          <a:bodyPr wrap="square" anchor="t" lIns="0" rIns="0" tIns="0" bIns="0">
            <a:spAutoFit/>
          </a:bodyPr>
          <a:lstStyle/>
          <a:p>
            <a:pPr algn="l">
              <a:lnSpc>
                <a:spcPct val="108000"/>
              </a:lnSpc>
              <a:spcAft>
                <a:spcPts val="0"/>
              </a:spcAft>
            </a:pPr>
            <a:r>
              <a:rPr sz="1500" b="0">
                <a:solidFill>
                  <a:srgbClr val="5B6472"/>
                </a:solidFill>
                <a:latin typeface="Arial"/>
              </a:rPr>
              <a:t>2000-11-01 to 2023-09-09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40080" y="457200"/>
            <a:ext cx="10911535" cy="822960"/>
          </a:xfrm>
          <a:prstGeom prst="rect">
            <a:avLst/>
          </a:prstGeom>
          <a:noFill/>
        </p:spPr>
        <p:txBody>
          <a:bodyPr wrap="square" anchor="t" lIns="0" rIns="0" tIns="0" bIns="0">
            <a:spAutoFit/>
          </a:bodyPr>
          <a:lstStyle/>
          <a:p>
            <a:pPr algn="l">
              <a:lnSpc>
                <a:spcPct val="108000"/>
              </a:lnSpc>
              <a:spcAft>
                <a:spcPts val="0"/>
              </a:spcAft>
            </a:pPr>
            <a:r>
              <a:rPr sz="3200" b="1">
                <a:solidFill>
                  <a:srgbClr val="14213D"/>
                </a:solidFill>
                <a:latin typeface="Arial"/>
              </a:rPr>
              <a:t>The answer, in one line</a:t>
            </a:r>
          </a:p>
        </p:txBody>
      </p:sp>
      <p:sp>
        <p:nvSpPr>
          <p:cNvPr id="3" name="Rectangle 2"/>
          <p:cNvSpPr/>
          <p:nvPr/>
        </p:nvSpPr>
        <p:spPr>
          <a:xfrm>
            <a:off x="640080" y="1207008"/>
            <a:ext cx="822960" cy="54864"/>
          </a:xfrm>
          <a:prstGeom prst="rect">
            <a:avLst/>
          </a:prstGeom>
          <a:solidFill>
            <a:srgbClr val="C85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08415" y="6355080"/>
            <a:ext cx="2743200" cy="274320"/>
          </a:xfrm>
          <a:prstGeom prst="rect">
            <a:avLst/>
          </a:prstGeom>
          <a:noFill/>
        </p:spPr>
        <p:txBody>
          <a:bodyPr wrap="square" anchor="t" lIns="0" rIns="0" tIns="0" bIns="0">
            <a:spAutoFit/>
          </a:bodyPr>
          <a:lstStyle/>
          <a:p>
            <a:pPr algn="r">
              <a:lnSpc>
                <a:spcPct val="108000"/>
              </a:lnSpc>
              <a:spcAft>
                <a:spcPts val="0"/>
              </a:spcAft>
            </a:pPr>
            <a:r>
              <a:rPr sz="1000" b="0">
                <a:solidFill>
                  <a:srgbClr val="5B6472"/>
                </a:solidFill>
                <a:latin typeface="Arial"/>
              </a:rPr>
              <a:t>Review Radar · 2</a:t>
            </a:r>
          </a:p>
        </p:txBody>
      </p:sp>
      <p:sp>
        <p:nvSpPr>
          <p:cNvPr id="5" name="TextBox 4"/>
          <p:cNvSpPr txBox="1"/>
          <p:nvPr/>
        </p:nvSpPr>
        <p:spPr>
          <a:xfrm>
            <a:off x="640080" y="1554480"/>
            <a:ext cx="10911535" cy="1188720"/>
          </a:xfrm>
          <a:prstGeom prst="rect">
            <a:avLst/>
          </a:prstGeom>
          <a:noFill/>
        </p:spPr>
        <p:txBody>
          <a:bodyPr wrap="square" anchor="t" lIns="0" rIns="0" tIns="0" bIns="0">
            <a:spAutoFit/>
          </a:bodyPr>
          <a:lstStyle/>
          <a:p>
            <a:pPr algn="l">
              <a:lnSpc>
                <a:spcPct val="115000"/>
              </a:lnSpc>
              <a:spcAft>
                <a:spcPts val="0"/>
              </a:spcAft>
            </a:pPr>
            <a:r>
              <a:rPr sz="2700" b="1">
                <a:solidFill>
                  <a:srgbClr val="14213D"/>
                </a:solidFill>
                <a:latin typeface="Arial"/>
              </a:rPr>
              <a:t>The completed result identifies sustained rating declines; aspect-level explanation is preliminary.</a:t>
            </a:r>
          </a:p>
        </p:txBody>
      </p:sp>
      <p:sp>
        <p:nvSpPr>
          <p:cNvPr id="6" name="Rectangle 5"/>
          <p:cNvSpPr/>
          <p:nvPr/>
        </p:nvSpPr>
        <p:spPr>
          <a:xfrm>
            <a:off x="640080" y="3017520"/>
            <a:ext cx="3474720" cy="1600200"/>
          </a:xfrm>
          <a:prstGeom prst="rect">
            <a:avLst/>
          </a:prstGeom>
          <a:solidFill>
            <a:srgbClr val="EE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3017520"/>
            <a:ext cx="64008" cy="1600200"/>
          </a:xfrm>
          <a:prstGeom prst="rect">
            <a:avLst/>
          </a:prstGeom>
          <a:solidFill>
            <a:srgbClr val="C85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182112"/>
            <a:ext cx="3108960" cy="640080"/>
          </a:xfrm>
          <a:prstGeom prst="rect">
            <a:avLst/>
          </a:prstGeom>
          <a:noFill/>
        </p:spPr>
        <p:txBody>
          <a:bodyPr wrap="square" anchor="t" lIns="0" rIns="0" tIns="0" bIns="0">
            <a:spAutoFit/>
          </a:bodyPr>
          <a:lstStyle/>
          <a:p>
            <a:pPr algn="l">
              <a:lnSpc>
                <a:spcPct val="108000"/>
              </a:lnSpc>
              <a:spcAft>
                <a:spcPts val="0"/>
              </a:spcAft>
            </a:pPr>
            <a:r>
              <a:rPr sz="3000" b="1">
                <a:solidFill>
                  <a:srgbClr val="C8553D"/>
                </a:solidFill>
                <a:latin typeface="Arial"/>
              </a:rPr>
              <a:t>139 of 502</a:t>
            </a:r>
          </a:p>
        </p:txBody>
      </p:sp>
      <p:sp>
        <p:nvSpPr>
          <p:cNvPr id="9" name="TextBox 8"/>
          <p:cNvSpPr txBox="1"/>
          <p:nvPr/>
        </p:nvSpPr>
        <p:spPr>
          <a:xfrm>
            <a:off x="868680" y="3753612"/>
            <a:ext cx="3108960" cy="685800"/>
          </a:xfrm>
          <a:prstGeom prst="rect">
            <a:avLst/>
          </a:prstGeom>
          <a:noFill/>
        </p:spPr>
        <p:txBody>
          <a:bodyPr wrap="square" anchor="t" lIns="0" rIns="0" tIns="0" bIns="0">
            <a:spAutoFit/>
          </a:bodyPr>
          <a:lstStyle/>
          <a:p>
            <a:pPr algn="l">
              <a:lnSpc>
                <a:spcPct val="108000"/>
              </a:lnSpc>
              <a:spcAft>
                <a:spcPts val="0"/>
              </a:spcAft>
            </a:pPr>
            <a:r>
              <a:rPr sz="1500" b="0">
                <a:solidFill>
                  <a:srgbClr val="5B6472"/>
                </a:solidFill>
                <a:latin typeface="Arial"/>
              </a:rPr>
              <a:t>eligible products raised an alert during 2020–2023, under a rule frozen beforehand</a:t>
            </a:r>
          </a:p>
        </p:txBody>
      </p:sp>
      <p:sp>
        <p:nvSpPr>
          <p:cNvPr id="10" name="Rectangle 9"/>
          <p:cNvSpPr/>
          <p:nvPr/>
        </p:nvSpPr>
        <p:spPr>
          <a:xfrm>
            <a:off x="4343400" y="3017520"/>
            <a:ext cx="3474720" cy="1600200"/>
          </a:xfrm>
          <a:prstGeom prst="rect">
            <a:avLst/>
          </a:prstGeom>
          <a:solidFill>
            <a:srgbClr val="EE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3017520"/>
            <a:ext cx="64008" cy="16002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3182112"/>
            <a:ext cx="3108960" cy="640080"/>
          </a:xfrm>
          <a:prstGeom prst="rect">
            <a:avLst/>
          </a:prstGeom>
          <a:noFill/>
        </p:spPr>
        <p:txBody>
          <a:bodyPr wrap="square" anchor="t" lIns="0" rIns="0" tIns="0" bIns="0">
            <a:spAutoFit/>
          </a:bodyPr>
          <a:lstStyle/>
          <a:p>
            <a:pPr algn="l">
              <a:lnSpc>
                <a:spcPct val="108000"/>
              </a:lnSpc>
              <a:spcAft>
                <a:spcPts val="0"/>
              </a:spcAft>
            </a:pPr>
            <a:r>
              <a:rPr sz="3000" b="1">
                <a:solidFill>
                  <a:srgbClr val="14213D"/>
                </a:solidFill>
                <a:latin typeface="Arial"/>
              </a:rPr>
              <a:t>0.80 / month</a:t>
            </a:r>
          </a:p>
        </p:txBody>
      </p:sp>
      <p:sp>
        <p:nvSpPr>
          <p:cNvPr id="13" name="TextBox 12"/>
          <p:cNvSpPr txBox="1"/>
          <p:nvPr/>
        </p:nvSpPr>
        <p:spPr>
          <a:xfrm>
            <a:off x="4572000" y="3753612"/>
            <a:ext cx="3108960" cy="685800"/>
          </a:xfrm>
          <a:prstGeom prst="rect">
            <a:avLst/>
          </a:prstGeom>
          <a:noFill/>
        </p:spPr>
        <p:txBody>
          <a:bodyPr wrap="square" anchor="t" lIns="0" rIns="0" tIns="0" bIns="0">
            <a:spAutoFit/>
          </a:bodyPr>
          <a:lstStyle/>
          <a:p>
            <a:pPr algn="l">
              <a:lnSpc>
                <a:spcPct val="108000"/>
              </a:lnSpc>
              <a:spcAft>
                <a:spcPts val="0"/>
              </a:spcAft>
            </a:pPr>
            <a:r>
              <a:rPr sz="1500" b="0">
                <a:solidFill>
                  <a:srgbClr val="5B6472"/>
                </a:solidFill>
                <a:latin typeface="Arial"/>
              </a:rPr>
              <a:t>false alerts on placebo data, against a budget of one</a:t>
            </a:r>
          </a:p>
        </p:txBody>
      </p:sp>
      <p:sp>
        <p:nvSpPr>
          <p:cNvPr id="14" name="Rectangle 13"/>
          <p:cNvSpPr/>
          <p:nvPr/>
        </p:nvSpPr>
        <p:spPr>
          <a:xfrm>
            <a:off x="8046719" y="3017520"/>
            <a:ext cx="3502152" cy="1600200"/>
          </a:xfrm>
          <a:prstGeom prst="rect">
            <a:avLst/>
          </a:prstGeom>
          <a:solidFill>
            <a:srgbClr val="EE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19" y="3017520"/>
            <a:ext cx="64008" cy="16002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19" y="3182112"/>
            <a:ext cx="3136392" cy="640080"/>
          </a:xfrm>
          <a:prstGeom prst="rect">
            <a:avLst/>
          </a:prstGeom>
          <a:noFill/>
        </p:spPr>
        <p:txBody>
          <a:bodyPr wrap="square" anchor="t" lIns="0" rIns="0" tIns="0" bIns="0">
            <a:spAutoFit/>
          </a:bodyPr>
          <a:lstStyle/>
          <a:p>
            <a:pPr algn="l">
              <a:lnSpc>
                <a:spcPct val="108000"/>
              </a:lnSpc>
              <a:spcAft>
                <a:spcPts val="0"/>
              </a:spcAft>
            </a:pPr>
            <a:r>
              <a:rPr sz="3000" b="1">
                <a:solidFill>
                  <a:srgbClr val="14213D"/>
                </a:solidFill>
                <a:latin typeface="Arial"/>
              </a:rPr>
              <a:t>18.6%</a:t>
            </a:r>
          </a:p>
        </p:txBody>
      </p:sp>
      <p:sp>
        <p:nvSpPr>
          <p:cNvPr id="17" name="TextBox 16"/>
          <p:cNvSpPr txBox="1"/>
          <p:nvPr/>
        </p:nvSpPr>
        <p:spPr>
          <a:xfrm>
            <a:off x="8275319" y="3753612"/>
            <a:ext cx="3136392" cy="685800"/>
          </a:xfrm>
          <a:prstGeom prst="rect">
            <a:avLst/>
          </a:prstGeom>
          <a:noFill/>
        </p:spPr>
        <p:txBody>
          <a:bodyPr wrap="square" anchor="t" lIns="0" rIns="0" tIns="0" bIns="0">
            <a:spAutoFit/>
          </a:bodyPr>
          <a:lstStyle/>
          <a:p>
            <a:pPr algn="l">
              <a:lnSpc>
                <a:spcPct val="108000"/>
              </a:lnSpc>
              <a:spcAft>
                <a:spcPts val="0"/>
              </a:spcAft>
            </a:pPr>
            <a:r>
              <a:rPr sz="1500" b="0">
                <a:solidFill>
                  <a:srgbClr val="5B6472"/>
                </a:solidFill>
                <a:latin typeface="Arial"/>
              </a:rPr>
              <a:t>of declines its own size are detected, so this is a floor, not a census</a:t>
            </a:r>
          </a:p>
        </p:txBody>
      </p:sp>
      <p:sp>
        <p:nvSpPr>
          <p:cNvPr id="18" name="TextBox 17"/>
          <p:cNvSpPr txBox="1"/>
          <p:nvPr/>
        </p:nvSpPr>
        <p:spPr>
          <a:xfrm>
            <a:off x="640080" y="4937760"/>
            <a:ext cx="10911535" cy="1188720"/>
          </a:xfrm>
          <a:prstGeom prst="rect">
            <a:avLst/>
          </a:prstGeom>
          <a:noFill/>
        </p:spPr>
        <p:txBody>
          <a:bodyPr wrap="square" anchor="t" lIns="0" rIns="0" tIns="0" bIns="0">
            <a:spAutoFit/>
          </a:bodyPr>
          <a:lstStyle/>
          <a:p>
            <a:pPr algn="l">
              <a:lnSpc>
                <a:spcPct val="108000"/>
              </a:lnSpc>
              <a:spcAft>
                <a:spcPts val="600"/>
              </a:spcAft>
            </a:pPr>
            <a:r>
              <a:rPr sz="1700" b="1">
                <a:solidFill>
                  <a:srgbClr val="14213D"/>
                </a:solidFill>
                <a:latin typeface="Arial"/>
              </a:rPr>
              <a:t>Hero: </a:t>
            </a:r>
            <a:r>
              <a:rPr sz="1500" b="0">
                <a:solidFill>
                  <a:srgbClr val="14213D"/>
                </a:solidFill>
                <a:latin typeface="Courier New"/>
              </a:rPr>
              <a:t>B00RPJZMUM</a:t>
            </a:r>
            <a:r>
              <a:rPr sz="1700" b="0">
                <a:solidFill>
                  <a:srgbClr val="14213D"/>
                </a:solidFill>
                <a:latin typeface="Arial"/>
              </a:rPr>
              <a:t> — hard_to_use and not_as_described give way to does_not_work (“motor stopped working”).</a:t>
            </a:r>
          </a:p>
          <a:p>
            <a:pPr algn="l">
              <a:lnSpc>
                <a:spcPct val="108000"/>
              </a:lnSpc>
              <a:spcAft>
                <a:spcPts val="600"/>
              </a:spcAft>
            </a:pPr>
            <a:r>
              <a:rPr sz="1700" b="0">
                <a:solidFill>
                  <a:srgbClr val="5B6472"/>
                </a:solidFill>
                <a:latin typeface="Arial"/>
              </a:rPr>
              <a:t>An illustration over 18 baseline and 3 recent labelled mentions, not an estimate. The decline claim stands; the theme claim is illustrative.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40080" y="457200"/>
            <a:ext cx="10911535" cy="822960"/>
          </a:xfrm>
          <a:prstGeom prst="rect">
            <a:avLst/>
          </a:prstGeom>
          <a:noFill/>
        </p:spPr>
        <p:txBody>
          <a:bodyPr wrap="square" anchor="t" lIns="0" rIns="0" tIns="0" bIns="0">
            <a:spAutoFit/>
          </a:bodyPr>
          <a:lstStyle/>
          <a:p>
            <a:pPr algn="l">
              <a:lnSpc>
                <a:spcPct val="108000"/>
              </a:lnSpc>
              <a:spcAft>
                <a:spcPts val="0"/>
              </a:spcAft>
            </a:pPr>
            <a:r>
              <a:rPr sz="3200" b="1">
                <a:solidFill>
                  <a:srgbClr val="14213D"/>
                </a:solidFill>
                <a:latin typeface="Arial"/>
              </a:rPr>
              <a:t>The data, and which V’s it exercises</a:t>
            </a:r>
          </a:p>
        </p:txBody>
      </p:sp>
      <p:sp>
        <p:nvSpPr>
          <p:cNvPr id="3" name="Rectangle 2"/>
          <p:cNvSpPr/>
          <p:nvPr/>
        </p:nvSpPr>
        <p:spPr>
          <a:xfrm>
            <a:off x="640080" y="1207008"/>
            <a:ext cx="822960" cy="54864"/>
          </a:xfrm>
          <a:prstGeom prst="rect">
            <a:avLst/>
          </a:prstGeom>
          <a:solidFill>
            <a:srgbClr val="C85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08415" y="6355080"/>
            <a:ext cx="2743200" cy="274320"/>
          </a:xfrm>
          <a:prstGeom prst="rect">
            <a:avLst/>
          </a:prstGeom>
          <a:noFill/>
        </p:spPr>
        <p:txBody>
          <a:bodyPr wrap="square" anchor="t" lIns="0" rIns="0" tIns="0" bIns="0">
            <a:spAutoFit/>
          </a:bodyPr>
          <a:lstStyle/>
          <a:p>
            <a:pPr algn="r">
              <a:lnSpc>
                <a:spcPct val="108000"/>
              </a:lnSpc>
              <a:spcAft>
                <a:spcPts val="0"/>
              </a:spcAft>
            </a:pPr>
            <a:r>
              <a:rPr sz="1000" b="0">
                <a:solidFill>
                  <a:srgbClr val="5B6472"/>
                </a:solidFill>
                <a:latin typeface="Arial"/>
              </a:rPr>
              <a:t>Review Radar · 3</a:t>
            </a:r>
          </a:p>
        </p:txBody>
      </p:sp>
      <p:sp>
        <p:nvSpPr>
          <p:cNvPr id="5" name="Rectangle 4"/>
          <p:cNvSpPr/>
          <p:nvPr/>
        </p:nvSpPr>
        <p:spPr>
          <a:xfrm>
            <a:off x="640080" y="1600200"/>
            <a:ext cx="5349240" cy="2103120"/>
          </a:xfrm>
          <a:prstGeom prst="rect">
            <a:avLst/>
          </a:prstGeom>
          <a:solidFill>
            <a:srgbClr val="EE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600200"/>
            <a:ext cx="64008" cy="210312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37360"/>
            <a:ext cx="4937760" cy="274320"/>
          </a:xfrm>
          <a:prstGeom prst="rect">
            <a:avLst/>
          </a:prstGeom>
          <a:noFill/>
        </p:spPr>
        <p:txBody>
          <a:bodyPr wrap="square" anchor="t" lIns="0" rIns="0" tIns="0" bIns="0">
            <a:spAutoFit/>
          </a:bodyPr>
          <a:lstStyle/>
          <a:p>
            <a:pPr algn="l">
              <a:lnSpc>
                <a:spcPct val="108000"/>
              </a:lnSpc>
              <a:spcAft>
                <a:spcPts val="0"/>
              </a:spcAft>
            </a:pPr>
            <a:r>
              <a:rPr sz="1100" b="1">
                <a:solidFill>
                  <a:srgbClr val="C8553D"/>
                </a:solidFill>
                <a:latin typeface="Arial"/>
              </a:rPr>
              <a:t>VOLUME</a:t>
            </a:r>
          </a:p>
        </p:txBody>
      </p:sp>
      <p:sp>
        <p:nvSpPr>
          <p:cNvPr id="8" name="TextBox 7"/>
          <p:cNvSpPr txBox="1"/>
          <p:nvPr/>
        </p:nvSpPr>
        <p:spPr>
          <a:xfrm>
            <a:off x="868680" y="2039112"/>
            <a:ext cx="4937760" cy="548640"/>
          </a:xfrm>
          <a:prstGeom prst="rect">
            <a:avLst/>
          </a:prstGeom>
          <a:noFill/>
        </p:spPr>
        <p:txBody>
          <a:bodyPr wrap="square" anchor="t" lIns="0" rIns="0" tIns="0" bIns="0">
            <a:spAutoFit/>
          </a:bodyPr>
          <a:lstStyle/>
          <a:p>
            <a:pPr algn="l">
              <a:lnSpc>
                <a:spcPct val="108000"/>
              </a:lnSpc>
              <a:spcAft>
                <a:spcPts val="0"/>
              </a:spcAft>
            </a:pPr>
            <a:r>
              <a:rPr sz="2600" b="1">
                <a:solidFill>
                  <a:srgbClr val="14213D"/>
                </a:solidFill>
                <a:latin typeface="Arial"/>
              </a:rPr>
              <a:t>311 MB → 96.5 MB</a:t>
            </a:r>
          </a:p>
        </p:txBody>
      </p:sp>
      <p:sp>
        <p:nvSpPr>
          <p:cNvPr id="9" name="TextBox 8"/>
          <p:cNvSpPr txBox="1"/>
          <p:nvPr/>
        </p:nvSpPr>
        <p:spPr>
          <a:xfrm>
            <a:off x="868680" y="2606040"/>
            <a:ext cx="4937760" cy="1051560"/>
          </a:xfrm>
          <a:prstGeom prst="rect">
            <a:avLst/>
          </a:prstGeom>
          <a:noFill/>
        </p:spPr>
        <p:txBody>
          <a:bodyPr wrap="square" anchor="t" lIns="0" rIns="0" tIns="0" bIns="0">
            <a:spAutoFit/>
          </a:bodyPr>
          <a:lstStyle/>
          <a:p>
            <a:pPr algn="l">
              <a:lnSpc>
                <a:spcPct val="108000"/>
              </a:lnSpc>
              <a:spcAft>
                <a:spcPts val="0"/>
              </a:spcAft>
            </a:pPr>
            <a:r>
              <a:rPr sz="1450" b="0">
                <a:solidFill>
                  <a:srgbClr val="5B6472"/>
                </a:solidFill>
                <a:latin typeface="Arial"/>
              </a:rPr>
              <a:t>bronze Parquet, 3.2× smaller · 0.54 GB raw JSONL · 693,547 ES docs · 345,418 vectors</a:t>
            </a:r>
          </a:p>
        </p:txBody>
      </p:sp>
      <p:sp>
        <p:nvSpPr>
          <p:cNvPr id="10" name="Rectangle 9"/>
          <p:cNvSpPr/>
          <p:nvPr/>
        </p:nvSpPr>
        <p:spPr>
          <a:xfrm>
            <a:off x="6199632" y="1600200"/>
            <a:ext cx="5349240" cy="2103120"/>
          </a:xfrm>
          <a:prstGeom prst="rect">
            <a:avLst/>
          </a:prstGeom>
          <a:solidFill>
            <a:srgbClr val="EE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9632" y="1600200"/>
            <a:ext cx="64008" cy="210312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8232" y="1737360"/>
            <a:ext cx="4937760" cy="274320"/>
          </a:xfrm>
          <a:prstGeom prst="rect">
            <a:avLst/>
          </a:prstGeom>
          <a:noFill/>
        </p:spPr>
        <p:txBody>
          <a:bodyPr wrap="square" anchor="t" lIns="0" rIns="0" tIns="0" bIns="0">
            <a:spAutoFit/>
          </a:bodyPr>
          <a:lstStyle/>
          <a:p>
            <a:pPr algn="l">
              <a:lnSpc>
                <a:spcPct val="108000"/>
              </a:lnSpc>
              <a:spcAft>
                <a:spcPts val="0"/>
              </a:spcAft>
            </a:pPr>
            <a:r>
              <a:rPr sz="1100" b="1">
                <a:solidFill>
                  <a:srgbClr val="C8553D"/>
                </a:solidFill>
                <a:latin typeface="Arial"/>
              </a:rPr>
              <a:t>VELOCITY</a:t>
            </a:r>
          </a:p>
        </p:txBody>
      </p:sp>
      <p:sp>
        <p:nvSpPr>
          <p:cNvPr id="13" name="TextBox 12"/>
          <p:cNvSpPr txBox="1"/>
          <p:nvPr/>
        </p:nvSpPr>
        <p:spPr>
          <a:xfrm>
            <a:off x="6428232" y="2039112"/>
            <a:ext cx="4937760" cy="548640"/>
          </a:xfrm>
          <a:prstGeom prst="rect">
            <a:avLst/>
          </a:prstGeom>
          <a:noFill/>
        </p:spPr>
        <p:txBody>
          <a:bodyPr wrap="square" anchor="t" lIns="0" rIns="0" tIns="0" bIns="0">
            <a:spAutoFit/>
          </a:bodyPr>
          <a:lstStyle/>
          <a:p>
            <a:pPr algn="l">
              <a:lnSpc>
                <a:spcPct val="108000"/>
              </a:lnSpc>
              <a:spcAft>
                <a:spcPts val="0"/>
              </a:spcAft>
            </a:pPr>
            <a:r>
              <a:rPr sz="2600" b="1">
                <a:solidFill>
                  <a:srgbClr val="14213D"/>
                </a:solidFill>
                <a:latin typeface="Arial"/>
              </a:rPr>
              <a:t>232k–484k rec/s</a:t>
            </a:r>
          </a:p>
        </p:txBody>
      </p:sp>
      <p:sp>
        <p:nvSpPr>
          <p:cNvPr id="14" name="TextBox 13"/>
          <p:cNvSpPr txBox="1"/>
          <p:nvPr/>
        </p:nvSpPr>
        <p:spPr>
          <a:xfrm>
            <a:off x="6428232" y="2606040"/>
            <a:ext cx="4937760" cy="1051560"/>
          </a:xfrm>
          <a:prstGeom prst="rect">
            <a:avLst/>
          </a:prstGeom>
          <a:noFill/>
        </p:spPr>
        <p:txBody>
          <a:bodyPr wrap="square" anchor="t" lIns="0" rIns="0" tIns="0" bIns="0">
            <a:spAutoFit/>
          </a:bodyPr>
          <a:lstStyle/>
          <a:p>
            <a:pPr algn="l">
              <a:lnSpc>
                <a:spcPct val="108000"/>
              </a:lnSpc>
              <a:spcAft>
                <a:spcPts val="0"/>
              </a:spcAft>
            </a:pPr>
            <a:r>
              <a:rPr sz="1450" b="0">
                <a:solidFill>
                  <a:srgbClr val="5B6472"/>
                </a:solidFill>
                <a:latin typeface="Arial"/>
              </a:rPr>
              <a:t>producer throughput, a range · the stream replay is paced to a frozen 3,000 rec/s, measured 2,999</a:t>
            </a:r>
          </a:p>
        </p:txBody>
      </p:sp>
      <p:sp>
        <p:nvSpPr>
          <p:cNvPr id="15" name="Rectangle 14"/>
          <p:cNvSpPr/>
          <p:nvPr/>
        </p:nvSpPr>
        <p:spPr>
          <a:xfrm>
            <a:off x="640080" y="3931920"/>
            <a:ext cx="5349240" cy="2103120"/>
          </a:xfrm>
          <a:prstGeom prst="rect">
            <a:avLst/>
          </a:prstGeom>
          <a:solidFill>
            <a:srgbClr val="EE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3931920"/>
            <a:ext cx="64008" cy="210312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069080"/>
            <a:ext cx="4937760" cy="274320"/>
          </a:xfrm>
          <a:prstGeom prst="rect">
            <a:avLst/>
          </a:prstGeom>
          <a:noFill/>
        </p:spPr>
        <p:txBody>
          <a:bodyPr wrap="square" anchor="t" lIns="0" rIns="0" tIns="0" bIns="0">
            <a:spAutoFit/>
          </a:bodyPr>
          <a:lstStyle/>
          <a:p>
            <a:pPr algn="l">
              <a:lnSpc>
                <a:spcPct val="108000"/>
              </a:lnSpc>
              <a:spcAft>
                <a:spcPts val="0"/>
              </a:spcAft>
            </a:pPr>
            <a:r>
              <a:rPr sz="1100" b="1">
                <a:solidFill>
                  <a:srgbClr val="C8553D"/>
                </a:solidFill>
                <a:latin typeface="Arial"/>
              </a:rPr>
              <a:t>VARIETY</a:t>
            </a:r>
          </a:p>
        </p:txBody>
      </p:sp>
      <p:sp>
        <p:nvSpPr>
          <p:cNvPr id="18" name="TextBox 17"/>
          <p:cNvSpPr txBox="1"/>
          <p:nvPr/>
        </p:nvSpPr>
        <p:spPr>
          <a:xfrm>
            <a:off x="868680" y="4370831"/>
            <a:ext cx="4937760" cy="548640"/>
          </a:xfrm>
          <a:prstGeom prst="rect">
            <a:avLst/>
          </a:prstGeom>
          <a:noFill/>
        </p:spPr>
        <p:txBody>
          <a:bodyPr wrap="square" anchor="t" lIns="0" rIns="0" tIns="0" bIns="0">
            <a:spAutoFit/>
          </a:bodyPr>
          <a:lstStyle/>
          <a:p>
            <a:pPr algn="l">
              <a:lnSpc>
                <a:spcPct val="108000"/>
              </a:lnSpc>
              <a:spcAft>
                <a:spcPts val="0"/>
              </a:spcAft>
            </a:pPr>
            <a:r>
              <a:rPr sz="2600" b="1">
                <a:solidFill>
                  <a:srgbClr val="14213D"/>
                </a:solidFill>
                <a:latin typeface="Arial"/>
              </a:rPr>
              <a:t>free text + free-form JSON</a:t>
            </a:r>
          </a:p>
        </p:txBody>
      </p:sp>
      <p:sp>
        <p:nvSpPr>
          <p:cNvPr id="19" name="TextBox 18"/>
          <p:cNvSpPr txBox="1"/>
          <p:nvPr/>
        </p:nvSpPr>
        <p:spPr>
          <a:xfrm>
            <a:off x="868680" y="4937760"/>
            <a:ext cx="4937760" cy="1051560"/>
          </a:xfrm>
          <a:prstGeom prst="rect">
            <a:avLst/>
          </a:prstGeom>
          <a:noFill/>
        </p:spPr>
        <p:txBody>
          <a:bodyPr wrap="square" anchor="t" lIns="0" rIns="0" tIns="0" bIns="0">
            <a:spAutoFit/>
          </a:bodyPr>
          <a:lstStyle/>
          <a:p>
            <a:pPr algn="l">
              <a:lnSpc>
                <a:spcPct val="108000"/>
              </a:lnSpc>
              <a:spcAft>
                <a:spcPts val="0"/>
              </a:spcAft>
            </a:pPr>
            <a:r>
              <a:rPr sz="1450" b="0">
                <a:solidFill>
                  <a:srgbClr val="5B6472"/>
                </a:solidFill>
                <a:latin typeface="Arial"/>
              </a:rPr>
              <a:t>a details dict whose keys collide case-insensitively · price as null, “9.99”, “$9.99” or a range · Postgres catalogue joined over JDBC</a:t>
            </a:r>
          </a:p>
        </p:txBody>
      </p:sp>
      <p:sp>
        <p:nvSpPr>
          <p:cNvPr id="20" name="Rectangle 19"/>
          <p:cNvSpPr/>
          <p:nvPr/>
        </p:nvSpPr>
        <p:spPr>
          <a:xfrm>
            <a:off x="6199632" y="3931920"/>
            <a:ext cx="5349240" cy="2103120"/>
          </a:xfrm>
          <a:prstGeom prst="rect">
            <a:avLst/>
          </a:prstGeom>
          <a:solidFill>
            <a:srgbClr val="EE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9632" y="3931920"/>
            <a:ext cx="64008" cy="210312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2" y="4069080"/>
            <a:ext cx="4937760" cy="274320"/>
          </a:xfrm>
          <a:prstGeom prst="rect">
            <a:avLst/>
          </a:prstGeom>
          <a:noFill/>
        </p:spPr>
        <p:txBody>
          <a:bodyPr wrap="square" anchor="t" lIns="0" rIns="0" tIns="0" bIns="0">
            <a:spAutoFit/>
          </a:bodyPr>
          <a:lstStyle/>
          <a:p>
            <a:pPr algn="l">
              <a:lnSpc>
                <a:spcPct val="108000"/>
              </a:lnSpc>
              <a:spcAft>
                <a:spcPts val="0"/>
              </a:spcAft>
            </a:pPr>
            <a:r>
              <a:rPr sz="1100" b="1">
                <a:solidFill>
                  <a:srgbClr val="C8553D"/>
                </a:solidFill>
                <a:latin typeface="Arial"/>
              </a:rPr>
              <a:t>VERACITY</a:t>
            </a:r>
          </a:p>
        </p:txBody>
      </p:sp>
      <p:sp>
        <p:nvSpPr>
          <p:cNvPr id="23" name="TextBox 22"/>
          <p:cNvSpPr txBox="1"/>
          <p:nvPr/>
        </p:nvSpPr>
        <p:spPr>
          <a:xfrm>
            <a:off x="6428232" y="4370831"/>
            <a:ext cx="4937760" cy="548640"/>
          </a:xfrm>
          <a:prstGeom prst="rect">
            <a:avLst/>
          </a:prstGeom>
          <a:noFill/>
        </p:spPr>
        <p:txBody>
          <a:bodyPr wrap="square" anchor="t" lIns="0" rIns="0" tIns="0" bIns="0">
            <a:spAutoFit/>
          </a:bodyPr>
          <a:lstStyle/>
          <a:p>
            <a:pPr algn="l">
              <a:lnSpc>
                <a:spcPct val="108000"/>
              </a:lnSpc>
              <a:spcAft>
                <a:spcPts val="0"/>
              </a:spcAft>
            </a:pPr>
            <a:r>
              <a:rPr sz="2600" b="1">
                <a:solidFill>
                  <a:srgbClr val="14213D"/>
                </a:solidFill>
                <a:latin typeface="Arial"/>
              </a:rPr>
              <a:t>6,139 collision groups</a:t>
            </a:r>
          </a:p>
        </p:txBody>
      </p:sp>
      <p:sp>
        <p:nvSpPr>
          <p:cNvPr id="24" name="TextBox 23"/>
          <p:cNvSpPr txBox="1"/>
          <p:nvPr/>
        </p:nvSpPr>
        <p:spPr>
          <a:xfrm>
            <a:off x="6428232" y="4937760"/>
            <a:ext cx="4937760" cy="1051560"/>
          </a:xfrm>
          <a:prstGeom prst="rect">
            <a:avLst/>
          </a:prstGeom>
          <a:noFill/>
        </p:spPr>
        <p:txBody>
          <a:bodyPr wrap="square" anchor="t" lIns="0" rIns="0" tIns="0" bIns="0">
            <a:spAutoFit/>
          </a:bodyPr>
          <a:lstStyle/>
          <a:p>
            <a:pPr algn="l">
              <a:lnSpc>
                <a:spcPct val="108000"/>
              </a:lnSpc>
              <a:spcAft>
                <a:spcPts val="0"/>
              </a:spcAft>
            </a:pPr>
            <a:r>
              <a:rPr sz="1450" b="0">
                <a:solidFill>
                  <a:srgbClr val="5B6472"/>
                </a:solidFill>
                <a:latin typeface="Arial"/>
              </a:rPr>
              <a:t>over 13,415 rows: 6,138 byte-exact, 1 conflicting on helpful_vote, 0 disagreeing on rating → 7,276 rows removed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40080" y="457200"/>
            <a:ext cx="10911535" cy="822960"/>
          </a:xfrm>
          <a:prstGeom prst="rect">
            <a:avLst/>
          </a:prstGeom>
          <a:noFill/>
        </p:spPr>
        <p:txBody>
          <a:bodyPr wrap="square" anchor="t" lIns="0" rIns="0" tIns="0" bIns="0">
            <a:spAutoFit/>
          </a:bodyPr>
          <a:lstStyle/>
          <a:p>
            <a:pPr algn="l">
              <a:lnSpc>
                <a:spcPct val="108000"/>
              </a:lnSpc>
              <a:spcAft>
                <a:spcPts val="0"/>
              </a:spcAft>
            </a:pPr>
            <a:r>
              <a:rPr sz="3200" b="1">
                <a:solidFill>
                  <a:srgbClr val="14213D"/>
                </a:solidFill>
                <a:latin typeface="Arial"/>
              </a:rPr>
              <a:t>Architecture and data flow</a:t>
            </a:r>
          </a:p>
        </p:txBody>
      </p:sp>
      <p:sp>
        <p:nvSpPr>
          <p:cNvPr id="3" name="Rectangle 2"/>
          <p:cNvSpPr/>
          <p:nvPr/>
        </p:nvSpPr>
        <p:spPr>
          <a:xfrm>
            <a:off x="640080" y="1207008"/>
            <a:ext cx="822960" cy="54864"/>
          </a:xfrm>
          <a:prstGeom prst="rect">
            <a:avLst/>
          </a:prstGeom>
          <a:solidFill>
            <a:srgbClr val="C85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08415" y="6355080"/>
            <a:ext cx="2743200" cy="274320"/>
          </a:xfrm>
          <a:prstGeom prst="rect">
            <a:avLst/>
          </a:prstGeom>
          <a:noFill/>
        </p:spPr>
        <p:txBody>
          <a:bodyPr wrap="square" anchor="t" lIns="0" rIns="0" tIns="0" bIns="0">
            <a:spAutoFit/>
          </a:bodyPr>
          <a:lstStyle/>
          <a:p>
            <a:pPr algn="r">
              <a:lnSpc>
                <a:spcPct val="108000"/>
              </a:lnSpc>
              <a:spcAft>
                <a:spcPts val="0"/>
              </a:spcAft>
            </a:pPr>
            <a:r>
              <a:rPr sz="1000" b="0">
                <a:solidFill>
                  <a:srgbClr val="5B6472"/>
                </a:solidFill>
                <a:latin typeface="Arial"/>
              </a:rPr>
              <a:t>Review Radar · 4</a:t>
            </a:r>
          </a:p>
        </p:txBody>
      </p:sp>
      <p:sp>
        <p:nvSpPr>
          <p:cNvPr id="5" name="Magnetic Disk 4"/>
          <p:cNvSpPr/>
          <p:nvPr/>
        </p:nvSpPr>
        <p:spPr>
          <a:xfrm>
            <a:off x="502920" y="2514600"/>
            <a:ext cx="1417320" cy="685800"/>
          </a:xfrm>
          <a:prstGeom prst="flowChartMagneticDisk">
            <a:avLst/>
          </a:prstGeom>
          <a:solidFill>
            <a:srgbClr val="FFFFFF"/>
          </a:solidFill>
          <a:ln w="1587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300" b="1">
                <a:solidFill>
                  <a:srgbClr val="14213D"/>
                </a:solidFill>
                <a:latin typeface="Arial"/>
              </a:rPr>
              <a:t>raw JSONL</a:t>
            </a:r>
          </a:p>
          <a:p>
            <a:pPr algn="ctr"/>
            <a:r>
              <a:rPr sz="1050" b="0">
                <a:solidFill>
                  <a:srgbClr val="5B6472"/>
                </a:solidFill>
                <a:latin typeface="Arial"/>
              </a:rPr>
              <a:t>701,528 reviews</a:t>
            </a:r>
          </a:p>
        </p:txBody>
      </p:sp>
      <p:sp>
        <p:nvSpPr>
          <p:cNvPr id="6" name="Rounded Rectangle 5"/>
          <p:cNvSpPr/>
          <p:nvPr/>
        </p:nvSpPr>
        <p:spPr>
          <a:xfrm>
            <a:off x="2286000" y="2514600"/>
            <a:ext cx="1463040" cy="685800"/>
          </a:xfrm>
          <a:prstGeom prst="roundRect">
            <a:avLst/>
          </a:prstGeom>
          <a:solidFill>
            <a:srgbClr val="FFFFFF"/>
          </a:solidFill>
          <a:ln w="1587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300" b="1">
                <a:solidFill>
                  <a:srgbClr val="14213D"/>
                </a:solidFill>
                <a:latin typeface="Arial"/>
              </a:rPr>
              <a:t>replay producer</a:t>
            </a:r>
          </a:p>
        </p:txBody>
      </p:sp>
      <p:sp>
        <p:nvSpPr>
          <p:cNvPr id="7" name="Rounded Rectangle 6"/>
          <p:cNvSpPr/>
          <p:nvPr/>
        </p:nvSpPr>
        <p:spPr>
          <a:xfrm>
            <a:off x="4114800" y="2514600"/>
            <a:ext cx="1234440" cy="685800"/>
          </a:xfrm>
          <a:prstGeom prst="roundRect">
            <a:avLst/>
          </a:prstGeom>
          <a:solidFill>
            <a:srgbClr val="EEECE4"/>
          </a:solidFill>
          <a:ln w="1587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300" b="1">
                <a:solidFill>
                  <a:srgbClr val="14213D"/>
                </a:solidFill>
                <a:latin typeface="Arial"/>
              </a:rPr>
              <a:t>Kafka</a:t>
            </a:r>
          </a:p>
        </p:txBody>
      </p:sp>
      <p:sp>
        <p:nvSpPr>
          <p:cNvPr id="8" name="Rounded Rectangle 7"/>
          <p:cNvSpPr/>
          <p:nvPr/>
        </p:nvSpPr>
        <p:spPr>
          <a:xfrm>
            <a:off x="5760720" y="2514600"/>
            <a:ext cx="2011680" cy="685800"/>
          </a:xfrm>
          <a:prstGeom prst="roundRect">
            <a:avLst/>
          </a:prstGeom>
          <a:solidFill>
            <a:srgbClr val="FFFFFF"/>
          </a:solidFill>
          <a:ln w="1587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300" b="1">
                <a:solidFill>
                  <a:srgbClr val="14213D"/>
                </a:solidFill>
                <a:latin typeface="Arial"/>
              </a:rPr>
              <a:t>Spark batch</a:t>
            </a:r>
          </a:p>
          <a:p>
            <a:pPr algn="ctr"/>
            <a:r>
              <a:rPr sz="1050" b="0">
                <a:solidFill>
                  <a:srgbClr val="5B6472"/>
                </a:solidFill>
                <a:latin typeface="Arial"/>
              </a:rPr>
              <a:t>bronze → silver → gold</a:t>
            </a:r>
          </a:p>
        </p:txBody>
      </p:sp>
      <p:sp>
        <p:nvSpPr>
          <p:cNvPr id="9" name="Rounded Rectangle 8"/>
          <p:cNvSpPr/>
          <p:nvPr/>
        </p:nvSpPr>
        <p:spPr>
          <a:xfrm>
            <a:off x="8229600" y="2514600"/>
            <a:ext cx="1828800" cy="685800"/>
          </a:xfrm>
          <a:prstGeom prst="roundRect">
            <a:avLst/>
          </a:prstGeom>
          <a:solidFill>
            <a:srgbClr val="EEECE4"/>
          </a:solidFill>
          <a:ln w="1587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300" b="1">
                <a:solidFill>
                  <a:srgbClr val="14213D"/>
                </a:solidFill>
                <a:latin typeface="Arial"/>
              </a:rPr>
              <a:t>Elasticsearch</a:t>
            </a:r>
          </a:p>
          <a:p>
            <a:pPr algn="ctr"/>
            <a:r>
              <a:rPr sz="1050" b="0">
                <a:solidFill>
                  <a:srgbClr val="5B6472"/>
                </a:solidFill>
                <a:latin typeface="Arial"/>
              </a:rPr>
              <a:t>reviews · product_month</a:t>
            </a:r>
          </a:p>
        </p:txBody>
      </p:sp>
      <p:sp>
        <p:nvSpPr>
          <p:cNvPr id="10" name="Rounded Rectangle 9"/>
          <p:cNvSpPr/>
          <p:nvPr/>
        </p:nvSpPr>
        <p:spPr>
          <a:xfrm>
            <a:off x="10469880" y="2514600"/>
            <a:ext cx="1188720" cy="685800"/>
          </a:xfrm>
          <a:prstGeom prst="roundRect">
            <a:avLst/>
          </a:prstGeom>
          <a:solidFill>
            <a:srgbClr val="FFFFFF"/>
          </a:solidFill>
          <a:ln w="1587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300" b="1">
                <a:solidFill>
                  <a:srgbClr val="14213D"/>
                </a:solidFill>
                <a:latin typeface="Arial"/>
              </a:rPr>
              <a:t>Kibana</a:t>
            </a:r>
          </a:p>
        </p:txBody>
      </p:sp>
      <p:sp>
        <p:nvSpPr>
          <p:cNvPr id="11" name="Rounded Rectangle 10"/>
          <p:cNvSpPr/>
          <p:nvPr/>
        </p:nvSpPr>
        <p:spPr>
          <a:xfrm>
            <a:off x="5760720" y="1463040"/>
            <a:ext cx="2011680" cy="685800"/>
          </a:xfrm>
          <a:prstGeom prst="roundRect">
            <a:avLst/>
          </a:prstGeom>
          <a:solidFill>
            <a:srgbClr val="FFFFFF"/>
          </a:solidFill>
          <a:ln w="1587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300" b="1">
                <a:solidFill>
                  <a:srgbClr val="14213D"/>
                </a:solidFill>
                <a:latin typeface="Arial"/>
              </a:rPr>
              <a:t>Spark streaming</a:t>
            </a:r>
          </a:p>
          <a:p>
            <a:pPr algn="ctr"/>
            <a:r>
              <a:rPr sz="1050" b="0">
                <a:solidFill>
                  <a:srgbClr val="5B6472"/>
                </a:solidFill>
                <a:latin typeface="Arial"/>
              </a:rPr>
              <a:t>watermark 30 d</a:t>
            </a:r>
          </a:p>
        </p:txBody>
      </p:sp>
      <p:sp>
        <p:nvSpPr>
          <p:cNvPr id="12" name="Magnetic Disk 11"/>
          <p:cNvSpPr/>
          <p:nvPr/>
        </p:nvSpPr>
        <p:spPr>
          <a:xfrm>
            <a:off x="8229600" y="1463040"/>
            <a:ext cx="1828800" cy="685800"/>
          </a:xfrm>
          <a:prstGeom prst="flowChartMagneticDisk">
            <a:avLst/>
          </a:prstGeom>
          <a:solidFill>
            <a:srgbClr val="EEECE4"/>
          </a:solidFill>
          <a:ln w="1587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300" b="1">
                <a:solidFill>
                  <a:srgbClr val="14213D"/>
                </a:solidFill>
                <a:latin typeface="Arial"/>
              </a:rPr>
              <a:t>Iceberg on MinIO</a:t>
            </a:r>
          </a:p>
        </p:txBody>
      </p:sp>
      <p:sp>
        <p:nvSpPr>
          <p:cNvPr id="13" name="Magnetic Disk 12"/>
          <p:cNvSpPr/>
          <p:nvPr/>
        </p:nvSpPr>
        <p:spPr>
          <a:xfrm>
            <a:off x="3291840" y="3611880"/>
            <a:ext cx="2240280" cy="685800"/>
          </a:xfrm>
          <a:prstGeom prst="flowChartMagneticDisk">
            <a:avLst/>
          </a:prstGeom>
          <a:solidFill>
            <a:srgbClr val="FFFFFF"/>
          </a:solidFill>
          <a:ln w="1587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300" b="1">
                <a:solidFill>
                  <a:srgbClr val="14213D"/>
                </a:solidFill>
                <a:latin typeface="Arial"/>
              </a:rPr>
              <a:t>PostgreSQL</a:t>
            </a:r>
          </a:p>
          <a:p>
            <a:pPr algn="ctr"/>
            <a:r>
              <a:rPr sz="1050" b="0">
                <a:solidFill>
                  <a:srgbClr val="5B6472"/>
                </a:solidFill>
                <a:latin typeface="Arial"/>
              </a:rPr>
              <a:t>catalogue · products · run ledger</a:t>
            </a:r>
          </a:p>
        </p:txBody>
      </p:sp>
      <p:sp>
        <p:nvSpPr>
          <p:cNvPr id="14" name="Rounded Rectangle 13"/>
          <p:cNvSpPr/>
          <p:nvPr/>
        </p:nvSpPr>
        <p:spPr>
          <a:xfrm>
            <a:off x="7498079" y="3611880"/>
            <a:ext cx="3291840" cy="685800"/>
          </a:xfrm>
          <a:prstGeom prst="roundRect">
            <a:avLst/>
          </a:prstGeom>
          <a:solidFill>
            <a:srgbClr val="FFFFFF"/>
          </a:solidFill>
          <a:ln w="1587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300" b="1">
                <a:solidFill>
                  <a:srgbClr val="14213D"/>
                </a:solidFill>
                <a:latin typeface="Arial"/>
              </a:rPr>
              <a:t>AI layer</a:t>
            </a:r>
          </a:p>
          <a:p>
            <a:pPr algn="ctr"/>
            <a:r>
              <a:rPr sz="1050" b="0">
                <a:solidFill>
                  <a:srgbClr val="5B6472"/>
                </a:solidFill>
                <a:latin typeface="Arial"/>
              </a:rPr>
              <a:t>kNN · hybrid RRF · theme labelling · RAG</a:t>
            </a:r>
          </a:p>
        </p:txBody>
      </p:sp>
      <p:cxnSp>
        <p:nvCxnSpPr>
          <p:cNvPr id="15" name="Connector 14"/>
          <p:cNvCxnSpPr/>
          <p:nvPr/>
        </p:nvCxnSpPr>
        <p:spPr>
          <a:xfrm>
            <a:off x="1920240" y="2857500"/>
            <a:ext cx="365760" cy="0"/>
          </a:xfrm>
          <a:prstGeom prst="line">
            <a:avLst/>
          </a:prstGeom>
          <a:ln w="19050">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749039" y="2857500"/>
            <a:ext cx="365761" cy="0"/>
          </a:xfrm>
          <a:prstGeom prst="line">
            <a:avLst/>
          </a:prstGeom>
          <a:ln w="19050">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349240" y="2857500"/>
            <a:ext cx="411480" cy="0"/>
          </a:xfrm>
          <a:prstGeom prst="line">
            <a:avLst/>
          </a:prstGeom>
          <a:ln w="19050">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772400" y="2857500"/>
            <a:ext cx="457200" cy="0"/>
          </a:xfrm>
          <a:prstGeom prst="line">
            <a:avLst/>
          </a:prstGeom>
          <a:ln w="19050">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058400" y="2857500"/>
            <a:ext cx="411480" cy="0"/>
          </a:xfrm>
          <a:prstGeom prst="line">
            <a:avLst/>
          </a:prstGeom>
          <a:ln w="19050">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5029200" y="1805940"/>
            <a:ext cx="731520" cy="708660"/>
          </a:xfrm>
          <a:prstGeom prst="line">
            <a:avLst/>
          </a:prstGeom>
          <a:ln w="19050">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772400" y="1805940"/>
            <a:ext cx="457200" cy="0"/>
          </a:xfrm>
          <a:prstGeom prst="line">
            <a:avLst/>
          </a:prstGeom>
          <a:ln w="19050">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7589520" y="2148840"/>
            <a:ext cx="822960" cy="365760"/>
          </a:xfrm>
          <a:prstGeom prst="line">
            <a:avLst/>
          </a:prstGeom>
          <a:ln w="19050">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532120" y="3200400"/>
            <a:ext cx="777240" cy="594360"/>
          </a:xfrm>
          <a:prstGeom prst="line">
            <a:avLst/>
          </a:prstGeom>
          <a:ln w="19050">
            <a:solidFill>
              <a:srgbClr val="14213D"/>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257800" y="3246120"/>
            <a:ext cx="731520" cy="228600"/>
          </a:xfrm>
          <a:prstGeom prst="rect">
            <a:avLst/>
          </a:prstGeom>
          <a:noFill/>
        </p:spPr>
        <p:txBody>
          <a:bodyPr wrap="square" anchor="t" lIns="0" rIns="0" tIns="0" bIns="0">
            <a:spAutoFit/>
          </a:bodyPr>
          <a:lstStyle/>
          <a:p>
            <a:pPr algn="l">
              <a:lnSpc>
                <a:spcPct val="108000"/>
              </a:lnSpc>
              <a:spcAft>
                <a:spcPts val="0"/>
              </a:spcAft>
            </a:pPr>
            <a:r>
              <a:rPr sz="1100" b="0">
                <a:solidFill>
                  <a:srgbClr val="5B6472"/>
                </a:solidFill>
                <a:latin typeface="Arial"/>
              </a:rPr>
              <a:t>JDBC</a:t>
            </a:r>
          </a:p>
        </p:txBody>
      </p:sp>
      <p:cxnSp>
        <p:nvCxnSpPr>
          <p:cNvPr id="25" name="Connector 24"/>
          <p:cNvCxnSpPr/>
          <p:nvPr/>
        </p:nvCxnSpPr>
        <p:spPr>
          <a:xfrm>
            <a:off x="9144000" y="3200400"/>
            <a:ext cx="0" cy="411480"/>
          </a:xfrm>
          <a:prstGeom prst="line">
            <a:avLst/>
          </a:prstGeom>
          <a:ln w="19050">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40080" y="4617720"/>
            <a:ext cx="10911535" cy="274320"/>
          </a:xfrm>
          <a:prstGeom prst="rect">
            <a:avLst/>
          </a:prstGeom>
          <a:noFill/>
        </p:spPr>
        <p:txBody>
          <a:bodyPr wrap="square" anchor="t" lIns="0" rIns="0" tIns="0" bIns="0">
            <a:spAutoFit/>
          </a:bodyPr>
          <a:lstStyle/>
          <a:p>
            <a:pPr algn="l">
              <a:lnSpc>
                <a:spcPct val="108000"/>
              </a:lnSpc>
              <a:spcAft>
                <a:spcPts val="0"/>
              </a:spcAft>
            </a:pPr>
            <a:r>
              <a:rPr sz="1100" b="1">
                <a:solidFill>
                  <a:srgbClr val="C8553D"/>
                </a:solidFill>
                <a:latin typeface="Arial"/>
              </a:rPr>
              <a:t>EXACTLY-ONCE, AS A FIGURE</a:t>
            </a:r>
          </a:p>
        </p:txBody>
      </p:sp>
      <p:sp>
        <p:nvSpPr>
          <p:cNvPr id="27" name="Rectangle 26"/>
          <p:cNvSpPr/>
          <p:nvPr/>
        </p:nvSpPr>
        <p:spPr>
          <a:xfrm>
            <a:off x="640080" y="4937760"/>
            <a:ext cx="2606040" cy="1143000"/>
          </a:xfrm>
          <a:prstGeom prst="rect">
            <a:avLst/>
          </a:prstGeom>
          <a:solidFill>
            <a:srgbClr val="EE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59" y="5001768"/>
            <a:ext cx="2286000" cy="548640"/>
          </a:xfrm>
          <a:prstGeom prst="rect">
            <a:avLst/>
          </a:prstGeom>
          <a:noFill/>
        </p:spPr>
        <p:txBody>
          <a:bodyPr wrap="square" anchor="t" lIns="0" rIns="0" tIns="0" bIns="0">
            <a:spAutoFit/>
          </a:bodyPr>
          <a:lstStyle/>
          <a:p>
            <a:pPr algn="l">
              <a:lnSpc>
                <a:spcPct val="108000"/>
              </a:lnSpc>
              <a:spcAft>
                <a:spcPts val="0"/>
              </a:spcAft>
            </a:pPr>
            <a:r>
              <a:rPr sz="2600" b="1">
                <a:solidFill>
                  <a:srgbClr val="14213D"/>
                </a:solidFill>
                <a:latin typeface="Arial"/>
              </a:rPr>
              <a:t>120,000</a:t>
            </a:r>
          </a:p>
        </p:txBody>
      </p:sp>
      <p:sp>
        <p:nvSpPr>
          <p:cNvPr id="29" name="TextBox 28"/>
          <p:cNvSpPr txBox="1"/>
          <p:nvPr/>
        </p:nvSpPr>
        <p:spPr>
          <a:xfrm>
            <a:off x="822959" y="5577840"/>
            <a:ext cx="2286000" cy="457200"/>
          </a:xfrm>
          <a:prstGeom prst="rect">
            <a:avLst/>
          </a:prstGeom>
          <a:noFill/>
        </p:spPr>
        <p:txBody>
          <a:bodyPr wrap="square" anchor="t" lIns="0" rIns="0" tIns="0" bIns="0">
            <a:spAutoFit/>
          </a:bodyPr>
          <a:lstStyle/>
          <a:p>
            <a:pPr algn="l">
              <a:lnSpc>
                <a:spcPct val="108000"/>
              </a:lnSpc>
              <a:spcAft>
                <a:spcPts val="0"/>
              </a:spcAft>
            </a:pPr>
            <a:r>
              <a:rPr sz="1400" b="0">
                <a:solidFill>
                  <a:srgbClr val="5B6472"/>
                </a:solidFill>
                <a:latin typeface="Arial"/>
              </a:rPr>
              <a:t>records expected</a:t>
            </a:r>
          </a:p>
        </p:txBody>
      </p:sp>
      <p:sp>
        <p:nvSpPr>
          <p:cNvPr id="30" name="Rectangle 29"/>
          <p:cNvSpPr/>
          <p:nvPr/>
        </p:nvSpPr>
        <p:spPr>
          <a:xfrm>
            <a:off x="3419856" y="4937760"/>
            <a:ext cx="2606040" cy="1143000"/>
          </a:xfrm>
          <a:prstGeom prst="rect">
            <a:avLst/>
          </a:prstGeom>
          <a:solidFill>
            <a:srgbClr val="EE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02736" y="5001768"/>
            <a:ext cx="2286000" cy="548640"/>
          </a:xfrm>
          <a:prstGeom prst="rect">
            <a:avLst/>
          </a:prstGeom>
          <a:noFill/>
        </p:spPr>
        <p:txBody>
          <a:bodyPr wrap="square" anchor="t" lIns="0" rIns="0" tIns="0" bIns="0">
            <a:spAutoFit/>
          </a:bodyPr>
          <a:lstStyle/>
          <a:p>
            <a:pPr algn="l">
              <a:lnSpc>
                <a:spcPct val="108000"/>
              </a:lnSpc>
              <a:spcAft>
                <a:spcPts val="0"/>
              </a:spcAft>
            </a:pPr>
            <a:r>
              <a:rPr sz="2600" b="1">
                <a:solidFill>
                  <a:srgbClr val="14213D"/>
                </a:solidFill>
                <a:latin typeface="Arial"/>
              </a:rPr>
              <a:t>89,964</a:t>
            </a:r>
          </a:p>
        </p:txBody>
      </p:sp>
      <p:sp>
        <p:nvSpPr>
          <p:cNvPr id="32" name="TextBox 31"/>
          <p:cNvSpPr txBox="1"/>
          <p:nvPr/>
        </p:nvSpPr>
        <p:spPr>
          <a:xfrm>
            <a:off x="3602736" y="5577840"/>
            <a:ext cx="2286000" cy="457200"/>
          </a:xfrm>
          <a:prstGeom prst="rect">
            <a:avLst/>
          </a:prstGeom>
          <a:noFill/>
        </p:spPr>
        <p:txBody>
          <a:bodyPr wrap="square" anchor="t" lIns="0" rIns="0" tIns="0" bIns="0">
            <a:spAutoFit/>
          </a:bodyPr>
          <a:lstStyle/>
          <a:p>
            <a:pPr algn="l">
              <a:lnSpc>
                <a:spcPct val="108000"/>
              </a:lnSpc>
              <a:spcAft>
                <a:spcPts val="0"/>
              </a:spcAft>
            </a:pPr>
            <a:r>
              <a:rPr sz="1400" b="0">
                <a:solidFill>
                  <a:srgbClr val="5B6472"/>
                </a:solidFill>
                <a:latin typeface="Arial"/>
              </a:rPr>
              <a:t>rows before the SIGKILL</a:t>
            </a:r>
          </a:p>
        </p:txBody>
      </p:sp>
      <p:sp>
        <p:nvSpPr>
          <p:cNvPr id="33" name="Rectangle 32"/>
          <p:cNvSpPr/>
          <p:nvPr/>
        </p:nvSpPr>
        <p:spPr>
          <a:xfrm>
            <a:off x="6199632" y="4937760"/>
            <a:ext cx="2606040" cy="1143000"/>
          </a:xfrm>
          <a:prstGeom prst="rect">
            <a:avLst/>
          </a:prstGeom>
          <a:solidFill>
            <a:srgbClr val="EE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82512" y="5001768"/>
            <a:ext cx="2286000" cy="548640"/>
          </a:xfrm>
          <a:prstGeom prst="rect">
            <a:avLst/>
          </a:prstGeom>
          <a:noFill/>
        </p:spPr>
        <p:txBody>
          <a:bodyPr wrap="square" anchor="t" lIns="0" rIns="0" tIns="0" bIns="0">
            <a:spAutoFit/>
          </a:bodyPr>
          <a:lstStyle/>
          <a:p>
            <a:pPr algn="l">
              <a:lnSpc>
                <a:spcPct val="108000"/>
              </a:lnSpc>
              <a:spcAft>
                <a:spcPts val="0"/>
              </a:spcAft>
            </a:pPr>
            <a:r>
              <a:rPr sz="2600" b="1">
                <a:solidFill>
                  <a:srgbClr val="14213D"/>
                </a:solidFill>
                <a:latin typeface="Arial"/>
              </a:rPr>
              <a:t>120,000</a:t>
            </a:r>
          </a:p>
        </p:txBody>
      </p:sp>
      <p:sp>
        <p:nvSpPr>
          <p:cNvPr id="35" name="TextBox 34"/>
          <p:cNvSpPr txBox="1"/>
          <p:nvPr/>
        </p:nvSpPr>
        <p:spPr>
          <a:xfrm>
            <a:off x="6382512" y="5577840"/>
            <a:ext cx="2286000" cy="457200"/>
          </a:xfrm>
          <a:prstGeom prst="rect">
            <a:avLst/>
          </a:prstGeom>
          <a:noFill/>
        </p:spPr>
        <p:txBody>
          <a:bodyPr wrap="square" anchor="t" lIns="0" rIns="0" tIns="0" bIns="0">
            <a:spAutoFit/>
          </a:bodyPr>
          <a:lstStyle/>
          <a:p>
            <a:pPr algn="l">
              <a:lnSpc>
                <a:spcPct val="108000"/>
              </a:lnSpc>
              <a:spcAft>
                <a:spcPts val="0"/>
              </a:spcAft>
            </a:pPr>
            <a:r>
              <a:rPr sz="1400" b="0">
                <a:solidFill>
                  <a:srgbClr val="5B6472"/>
                </a:solidFill>
                <a:latin typeface="Arial"/>
              </a:rPr>
              <a:t>rows after the restart</a:t>
            </a:r>
          </a:p>
        </p:txBody>
      </p:sp>
      <p:sp>
        <p:nvSpPr>
          <p:cNvPr id="36" name="Rectangle 35"/>
          <p:cNvSpPr/>
          <p:nvPr/>
        </p:nvSpPr>
        <p:spPr>
          <a:xfrm>
            <a:off x="8979408" y="4937760"/>
            <a:ext cx="2606040" cy="1143000"/>
          </a:xfrm>
          <a:prstGeom prst="rect">
            <a:avLst/>
          </a:prstGeom>
          <a:solidFill>
            <a:srgbClr val="EE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62288" y="5001768"/>
            <a:ext cx="2286000" cy="548640"/>
          </a:xfrm>
          <a:prstGeom prst="rect">
            <a:avLst/>
          </a:prstGeom>
          <a:noFill/>
        </p:spPr>
        <p:txBody>
          <a:bodyPr wrap="square" anchor="t" lIns="0" rIns="0" tIns="0" bIns="0">
            <a:spAutoFit/>
          </a:bodyPr>
          <a:lstStyle/>
          <a:p>
            <a:pPr algn="l">
              <a:lnSpc>
                <a:spcPct val="108000"/>
              </a:lnSpc>
              <a:spcAft>
                <a:spcPts val="0"/>
              </a:spcAft>
            </a:pPr>
            <a:r>
              <a:rPr sz="2600" b="1">
                <a:solidFill>
                  <a:srgbClr val="C8553D"/>
                </a:solidFill>
                <a:latin typeface="Arial"/>
              </a:rPr>
              <a:t>0</a:t>
            </a:r>
          </a:p>
        </p:txBody>
      </p:sp>
      <p:sp>
        <p:nvSpPr>
          <p:cNvPr id="38" name="TextBox 37"/>
          <p:cNvSpPr txBox="1"/>
          <p:nvPr/>
        </p:nvSpPr>
        <p:spPr>
          <a:xfrm>
            <a:off x="9162288" y="5577840"/>
            <a:ext cx="2286000" cy="457200"/>
          </a:xfrm>
          <a:prstGeom prst="rect">
            <a:avLst/>
          </a:prstGeom>
          <a:noFill/>
        </p:spPr>
        <p:txBody>
          <a:bodyPr wrap="square" anchor="t" lIns="0" rIns="0" tIns="0" bIns="0">
            <a:spAutoFit/>
          </a:bodyPr>
          <a:lstStyle/>
          <a:p>
            <a:pPr algn="l">
              <a:lnSpc>
                <a:spcPct val="108000"/>
              </a:lnSpc>
              <a:spcAft>
                <a:spcPts val="0"/>
              </a:spcAft>
            </a:pPr>
            <a:r>
              <a:rPr sz="1400" b="0">
                <a:solidFill>
                  <a:srgbClr val="5B6472"/>
                </a:solidFill>
                <a:latin typeface="Arial"/>
              </a:rPr>
              <a:t>duplicate (partition, offset) pairs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40080" y="457200"/>
            <a:ext cx="10911535" cy="822960"/>
          </a:xfrm>
          <a:prstGeom prst="rect">
            <a:avLst/>
          </a:prstGeom>
          <a:noFill/>
        </p:spPr>
        <p:txBody>
          <a:bodyPr wrap="square" anchor="t" lIns="0" rIns="0" tIns="0" bIns="0">
            <a:spAutoFit/>
          </a:bodyPr>
          <a:lstStyle/>
          <a:p>
            <a:pPr algn="l">
              <a:lnSpc>
                <a:spcPct val="108000"/>
              </a:lnSpc>
              <a:spcAft>
                <a:spcPts val="0"/>
              </a:spcAft>
            </a:pPr>
            <a:r>
              <a:rPr sz="3200" b="1">
                <a:solidFill>
                  <a:srgbClr val="14213D"/>
                </a:solidFill>
                <a:latin typeface="Arial"/>
              </a:rPr>
              <a:t>The AI capability, and why this one</a:t>
            </a:r>
          </a:p>
        </p:txBody>
      </p:sp>
      <p:sp>
        <p:nvSpPr>
          <p:cNvPr id="3" name="Rectangle 2"/>
          <p:cNvSpPr/>
          <p:nvPr/>
        </p:nvSpPr>
        <p:spPr>
          <a:xfrm>
            <a:off x="640080" y="1207008"/>
            <a:ext cx="822960" cy="54864"/>
          </a:xfrm>
          <a:prstGeom prst="rect">
            <a:avLst/>
          </a:prstGeom>
          <a:solidFill>
            <a:srgbClr val="C85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08415" y="6355080"/>
            <a:ext cx="2743200" cy="274320"/>
          </a:xfrm>
          <a:prstGeom prst="rect">
            <a:avLst/>
          </a:prstGeom>
          <a:noFill/>
        </p:spPr>
        <p:txBody>
          <a:bodyPr wrap="square" anchor="t" lIns="0" rIns="0" tIns="0" bIns="0">
            <a:spAutoFit/>
          </a:bodyPr>
          <a:lstStyle/>
          <a:p>
            <a:pPr algn="r">
              <a:lnSpc>
                <a:spcPct val="108000"/>
              </a:lnSpc>
              <a:spcAft>
                <a:spcPts val="0"/>
              </a:spcAft>
            </a:pPr>
            <a:r>
              <a:rPr sz="1000" b="0">
                <a:solidFill>
                  <a:srgbClr val="5B6472"/>
                </a:solidFill>
                <a:latin typeface="Arial"/>
              </a:rPr>
              <a:t>Review Radar · 5</a:t>
            </a:r>
          </a:p>
        </p:txBody>
      </p:sp>
      <p:sp>
        <p:nvSpPr>
          <p:cNvPr id="5" name="Rectangle 4"/>
          <p:cNvSpPr/>
          <p:nvPr/>
        </p:nvSpPr>
        <p:spPr>
          <a:xfrm>
            <a:off x="640080" y="1600200"/>
            <a:ext cx="10911535" cy="960120"/>
          </a:xfrm>
          <a:prstGeom prst="rect">
            <a:avLst/>
          </a:prstGeom>
          <a:solidFill>
            <a:srgbClr val="EE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37360"/>
            <a:ext cx="10362895" cy="731520"/>
          </a:xfrm>
          <a:prstGeom prst="rect">
            <a:avLst/>
          </a:prstGeom>
          <a:noFill/>
        </p:spPr>
        <p:txBody>
          <a:bodyPr wrap="square" anchor="ctr" lIns="0" rIns="0" tIns="0" bIns="0">
            <a:spAutoFit/>
          </a:bodyPr>
          <a:lstStyle/>
          <a:p>
            <a:pPr algn="l">
              <a:lnSpc>
                <a:spcPct val="108000"/>
              </a:lnSpc>
              <a:spcAft>
                <a:spcPts val="0"/>
              </a:spcAft>
            </a:pPr>
            <a:r>
              <a:rPr sz="1900" b="1">
                <a:solidFill>
                  <a:srgbClr val="14213D"/>
                </a:solidFill>
                <a:latin typeface="Arial"/>
              </a:rPr>
              <a:t>“BM25 does not consider the semantic meaning of the query terms or the documents.”</a:t>
            </a:r>
          </a:p>
          <a:p>
            <a:pPr algn="l">
              <a:lnSpc>
                <a:spcPct val="108000"/>
              </a:lnSpc>
              <a:spcAft>
                <a:spcPts val="0"/>
              </a:spcAft>
            </a:pPr>
            <a:r>
              <a:rPr sz="1400" b="0">
                <a:solidFill>
                  <a:srgbClr val="5B6472"/>
                </a:solidFill>
                <a:latin typeface="Arial"/>
              </a:rPr>
              <a:t>the course, deck 5</a:t>
            </a:r>
          </a:p>
        </p:txBody>
      </p:sp>
      <p:sp>
        <p:nvSpPr>
          <p:cNvPr id="7" name="Rectangle 6"/>
          <p:cNvSpPr/>
          <p:nvPr/>
        </p:nvSpPr>
        <p:spPr>
          <a:xfrm>
            <a:off x="640080" y="2834640"/>
            <a:ext cx="3474720" cy="1554480"/>
          </a:xfrm>
          <a:prstGeom prst="rect">
            <a:avLst/>
          </a:prstGeom>
          <a:solidFill>
            <a:srgbClr val="EE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834640"/>
            <a:ext cx="64008" cy="155448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3108960" cy="640080"/>
          </a:xfrm>
          <a:prstGeom prst="rect">
            <a:avLst/>
          </a:prstGeom>
          <a:noFill/>
        </p:spPr>
        <p:txBody>
          <a:bodyPr wrap="square" anchor="t" lIns="0" rIns="0" tIns="0" bIns="0">
            <a:spAutoFit/>
          </a:bodyPr>
          <a:lstStyle/>
          <a:p>
            <a:pPr algn="l">
              <a:lnSpc>
                <a:spcPct val="108000"/>
              </a:lnSpc>
              <a:spcAft>
                <a:spcPts val="0"/>
              </a:spcAft>
            </a:pPr>
            <a:r>
              <a:rPr sz="3000" b="1">
                <a:solidFill>
                  <a:srgbClr val="14213D"/>
                </a:solidFill>
                <a:latin typeface="Arial"/>
              </a:rPr>
              <a:t>345,418</a:t>
            </a:r>
          </a:p>
        </p:txBody>
      </p:sp>
      <p:sp>
        <p:nvSpPr>
          <p:cNvPr id="10" name="TextBox 9"/>
          <p:cNvSpPr txBox="1"/>
          <p:nvPr/>
        </p:nvSpPr>
        <p:spPr>
          <a:xfrm>
            <a:off x="868680" y="3570732"/>
            <a:ext cx="3108960" cy="640080"/>
          </a:xfrm>
          <a:prstGeom prst="rect">
            <a:avLst/>
          </a:prstGeom>
          <a:noFill/>
        </p:spPr>
        <p:txBody>
          <a:bodyPr wrap="square" anchor="t" lIns="0" rIns="0" tIns="0" bIns="0">
            <a:spAutoFit/>
          </a:bodyPr>
          <a:lstStyle/>
          <a:p>
            <a:pPr algn="l">
              <a:lnSpc>
                <a:spcPct val="108000"/>
              </a:lnSpc>
              <a:spcAft>
                <a:spcPts val="0"/>
              </a:spcAft>
            </a:pPr>
            <a:r>
              <a:rPr sz="1500" b="0">
                <a:solidFill>
                  <a:srgbClr val="5B6472"/>
                </a:solidFill>
                <a:latin typeface="Arial"/>
              </a:rPr>
              <a:t>MiniLM-L6-v2 vectors over the ≥ 20-word reviews, indexed beside BM25 in Elasticsearch</a:t>
            </a:r>
          </a:p>
        </p:txBody>
      </p:sp>
      <p:sp>
        <p:nvSpPr>
          <p:cNvPr id="11" name="Rectangle 10"/>
          <p:cNvSpPr/>
          <p:nvPr/>
        </p:nvSpPr>
        <p:spPr>
          <a:xfrm>
            <a:off x="4343400" y="2834640"/>
            <a:ext cx="3474720" cy="1554480"/>
          </a:xfrm>
          <a:prstGeom prst="rect">
            <a:avLst/>
          </a:prstGeom>
          <a:solidFill>
            <a:srgbClr val="EE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43400" y="2834640"/>
            <a:ext cx="64008" cy="155448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2999232"/>
            <a:ext cx="3108960" cy="640080"/>
          </a:xfrm>
          <a:prstGeom prst="rect">
            <a:avLst/>
          </a:prstGeom>
          <a:noFill/>
        </p:spPr>
        <p:txBody>
          <a:bodyPr wrap="square" anchor="t" lIns="0" rIns="0" tIns="0" bIns="0">
            <a:spAutoFit/>
          </a:bodyPr>
          <a:lstStyle/>
          <a:p>
            <a:pPr algn="l">
              <a:lnSpc>
                <a:spcPct val="108000"/>
              </a:lnSpc>
              <a:spcAft>
                <a:spcPts val="0"/>
              </a:spcAft>
            </a:pPr>
            <a:r>
              <a:rPr sz="3000" b="1">
                <a:solidFill>
                  <a:srgbClr val="14213D"/>
                </a:solidFill>
                <a:latin typeface="Arial"/>
              </a:rPr>
              <a:t>0.96</a:t>
            </a:r>
          </a:p>
        </p:txBody>
      </p:sp>
      <p:sp>
        <p:nvSpPr>
          <p:cNvPr id="14" name="TextBox 13"/>
          <p:cNvSpPr txBox="1"/>
          <p:nvPr/>
        </p:nvSpPr>
        <p:spPr>
          <a:xfrm>
            <a:off x="4572000" y="3570732"/>
            <a:ext cx="3108960" cy="640080"/>
          </a:xfrm>
          <a:prstGeom prst="rect">
            <a:avLst/>
          </a:prstGeom>
          <a:noFill/>
        </p:spPr>
        <p:txBody>
          <a:bodyPr wrap="square" anchor="t" lIns="0" rIns="0" tIns="0" bIns="0">
            <a:spAutoFit/>
          </a:bodyPr>
          <a:lstStyle/>
          <a:p>
            <a:pPr algn="l">
              <a:lnSpc>
                <a:spcPct val="108000"/>
              </a:lnSpc>
              <a:spcAft>
                <a:spcPts val="0"/>
              </a:spcAft>
            </a:pPr>
            <a:r>
              <a:rPr sz="1500" b="0">
                <a:solidFill>
                  <a:srgbClr val="5B6472"/>
                </a:solidFill>
                <a:latin typeface="Arial"/>
              </a:rPr>
              <a:t>ANN recall@10 against exact cosine on the frozen query set</a:t>
            </a:r>
          </a:p>
        </p:txBody>
      </p:sp>
      <p:sp>
        <p:nvSpPr>
          <p:cNvPr id="15" name="Rectangle 14"/>
          <p:cNvSpPr/>
          <p:nvPr/>
        </p:nvSpPr>
        <p:spPr>
          <a:xfrm>
            <a:off x="8046719" y="2834640"/>
            <a:ext cx="3502152" cy="1554480"/>
          </a:xfrm>
          <a:prstGeom prst="rect">
            <a:avLst/>
          </a:prstGeom>
          <a:solidFill>
            <a:srgbClr val="EE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6719" y="2834640"/>
            <a:ext cx="64008" cy="1554480"/>
          </a:xfrm>
          <a:prstGeom prst="rect">
            <a:avLst/>
          </a:prstGeom>
          <a:solidFill>
            <a:srgbClr val="C85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5319" y="2999232"/>
            <a:ext cx="3136392" cy="640080"/>
          </a:xfrm>
          <a:prstGeom prst="rect">
            <a:avLst/>
          </a:prstGeom>
          <a:noFill/>
        </p:spPr>
        <p:txBody>
          <a:bodyPr wrap="square" anchor="t" lIns="0" rIns="0" tIns="0" bIns="0">
            <a:spAutoFit/>
          </a:bodyPr>
          <a:lstStyle/>
          <a:p>
            <a:pPr algn="l">
              <a:lnSpc>
                <a:spcPct val="108000"/>
              </a:lnSpc>
              <a:spcAft>
                <a:spcPts val="0"/>
              </a:spcAft>
            </a:pPr>
            <a:r>
              <a:rPr sz="2400" b="1">
                <a:solidFill>
                  <a:srgbClr val="C8553D"/>
                </a:solidFill>
                <a:latin typeface="Arial"/>
              </a:rPr>
              <a:t>H-E1 not held</a:t>
            </a:r>
          </a:p>
        </p:txBody>
      </p:sp>
      <p:sp>
        <p:nvSpPr>
          <p:cNvPr id="18" name="TextBox 17"/>
          <p:cNvSpPr txBox="1"/>
          <p:nvPr/>
        </p:nvSpPr>
        <p:spPr>
          <a:xfrm>
            <a:off x="8275319" y="3456432"/>
            <a:ext cx="3136392" cy="640080"/>
          </a:xfrm>
          <a:prstGeom prst="rect">
            <a:avLst/>
          </a:prstGeom>
          <a:noFill/>
        </p:spPr>
        <p:txBody>
          <a:bodyPr wrap="square" anchor="t" lIns="0" rIns="0" tIns="0" bIns="0">
            <a:spAutoFit/>
          </a:bodyPr>
          <a:lstStyle/>
          <a:p>
            <a:pPr algn="l">
              <a:lnSpc>
                <a:spcPct val="108000"/>
              </a:lnSpc>
              <a:spcAft>
                <a:spcPts val="0"/>
              </a:spcAft>
            </a:pPr>
            <a:r>
              <a:rPr sz="1500" b="0">
                <a:solidFill>
                  <a:srgbClr val="5B6472"/>
                </a:solidFill>
                <a:latin typeface="Arial"/>
              </a:rPr>
              <a:t>kNN alone does not beat BM25 — client-side RRF hybrid is where the gain is</a:t>
            </a:r>
          </a:p>
        </p:txBody>
      </p:sp>
      <p:sp>
        <p:nvSpPr>
          <p:cNvPr id="19" name="TextBox 18"/>
          <p:cNvSpPr txBox="1"/>
          <p:nvPr/>
        </p:nvSpPr>
        <p:spPr>
          <a:xfrm>
            <a:off x="640080" y="4709160"/>
            <a:ext cx="10911535" cy="1371600"/>
          </a:xfrm>
          <a:prstGeom prst="rect">
            <a:avLst/>
          </a:prstGeom>
          <a:noFill/>
        </p:spPr>
        <p:txBody>
          <a:bodyPr wrap="square" anchor="t" lIns="0" rIns="0" tIns="0" bIns="0">
            <a:spAutoFit/>
          </a:bodyPr>
          <a:lstStyle/>
          <a:p>
            <a:pPr algn="l">
              <a:lnSpc>
                <a:spcPct val="108000"/>
              </a:lnSpc>
              <a:spcAft>
                <a:spcPts val="800"/>
              </a:spcAft>
            </a:pPr>
            <a:r>
              <a:rPr sz="1800" b="1">
                <a:solidFill>
                  <a:srgbClr val="14213D"/>
                </a:solidFill>
                <a:latin typeface="Arial"/>
              </a:rPr>
              <a:t>Hybrid: </a:t>
            </a:r>
            <a:r>
              <a:rPr sz="1800" b="0">
                <a:solidFill>
                  <a:srgbClr val="14213D"/>
                </a:solidFill>
                <a:latin typeface="Arial"/>
              </a:rPr>
              <a:t>two rankings fused client-side by reciprocal rank, Σ 1/(60 + rank).</a:t>
            </a:r>
          </a:p>
          <a:p>
            <a:pPr algn="l">
              <a:lnSpc>
                <a:spcPct val="108000"/>
              </a:lnSpc>
              <a:spcAft>
                <a:spcPts val="800"/>
              </a:spcAft>
            </a:pPr>
            <a:r>
              <a:rPr sz="1800" b="1">
                <a:solidFill>
                  <a:srgbClr val="14213D"/>
                </a:solidFill>
                <a:latin typeface="Arial"/>
              </a:rPr>
              <a:t>Themes: </a:t>
            </a:r>
            <a:r>
              <a:rPr sz="1800" b="0">
                <a:solidFill>
                  <a:srgbClr val="14213D"/>
                </a:solidFill>
                <a:latin typeface="Arial"/>
              </a:rPr>
              <a:t>a frozen ten-theme complaint taxonomy, labelled per review by a local qwen3:8b.</a:t>
            </a:r>
          </a:p>
          <a:p>
            <a:pPr algn="l">
              <a:lnSpc>
                <a:spcPct val="108000"/>
              </a:lnSpc>
              <a:spcAft>
                <a:spcPts val="800"/>
              </a:spcAft>
            </a:pPr>
            <a:r>
              <a:rPr sz="1800" b="1">
                <a:solidFill>
                  <a:srgbClr val="14213D"/>
                </a:solidFill>
                <a:latin typeface="Arial"/>
              </a:rPr>
              <a:t>RAG: </a:t>
            </a:r>
            <a:r>
              <a:rPr sz="1800" b="0">
                <a:solidFill>
                  <a:srgbClr val="14213D"/>
                </a:solidFill>
                <a:latin typeface="Arial"/>
              </a:rPr>
              <a:t>answers with claim-level citations over the same retriever; 30 frozen questions.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640080" y="640080"/>
            <a:ext cx="10911535" cy="822960"/>
          </a:xfrm>
          <a:prstGeom prst="rect">
            <a:avLst/>
          </a:prstGeom>
          <a:noFill/>
        </p:spPr>
        <p:txBody>
          <a:bodyPr wrap="square" anchor="t" lIns="0" rIns="0" tIns="0" bIns="0">
            <a:spAutoFit/>
          </a:bodyPr>
          <a:lstStyle/>
          <a:p>
            <a:pPr algn="l">
              <a:lnSpc>
                <a:spcPct val="108000"/>
              </a:lnSpc>
              <a:spcAft>
                <a:spcPts val="0"/>
              </a:spcAft>
            </a:pPr>
            <a:r>
              <a:rPr sz="4400" b="1">
                <a:solidFill>
                  <a:srgbClr val="FFFFFF"/>
                </a:solidFill>
                <a:latin typeface="Arial"/>
              </a:rPr>
              <a:t>Live demo</a:t>
            </a:r>
          </a:p>
        </p:txBody>
      </p:sp>
      <p:sp>
        <p:nvSpPr>
          <p:cNvPr id="3" name="TextBox 2"/>
          <p:cNvSpPr txBox="1"/>
          <p:nvPr/>
        </p:nvSpPr>
        <p:spPr>
          <a:xfrm>
            <a:off x="640080" y="1417320"/>
            <a:ext cx="10911535" cy="365760"/>
          </a:xfrm>
          <a:prstGeom prst="rect">
            <a:avLst/>
          </a:prstGeom>
          <a:noFill/>
        </p:spPr>
        <p:txBody>
          <a:bodyPr wrap="square" anchor="t" lIns="0" rIns="0" tIns="0" bIns="0">
            <a:spAutoFit/>
          </a:bodyPr>
          <a:lstStyle/>
          <a:p>
            <a:pPr algn="l">
              <a:lnSpc>
                <a:spcPct val="108000"/>
              </a:lnSpc>
              <a:spcAft>
                <a:spcPts val="0"/>
              </a:spcAft>
            </a:pPr>
            <a:r>
              <a:rPr sz="1800" b="0">
                <a:solidFill>
                  <a:srgbClr val="C9CED8"/>
                </a:solidFill>
                <a:latin typeface="Arial"/>
              </a:rPr>
              <a:t>Ten moves, one kernel · 4:40</a:t>
            </a:r>
          </a:p>
        </p:txBody>
      </p:sp>
      <p:sp>
        <p:nvSpPr>
          <p:cNvPr id="4" name="TextBox 3"/>
          <p:cNvSpPr txBox="1"/>
          <p:nvPr/>
        </p:nvSpPr>
        <p:spPr>
          <a:xfrm>
            <a:off x="640080" y="2286000"/>
            <a:ext cx="640080" cy="457200"/>
          </a:xfrm>
          <a:prstGeom prst="rect">
            <a:avLst/>
          </a:prstGeom>
          <a:noFill/>
        </p:spPr>
        <p:txBody>
          <a:bodyPr wrap="square" anchor="t" lIns="0" rIns="0" tIns="0" bIns="0">
            <a:spAutoFit/>
          </a:bodyPr>
          <a:lstStyle/>
          <a:p>
            <a:pPr algn="l">
              <a:lnSpc>
                <a:spcPct val="108000"/>
              </a:lnSpc>
              <a:spcAft>
                <a:spcPts val="0"/>
              </a:spcAft>
            </a:pPr>
            <a:r>
              <a:rPr sz="2200" b="1">
                <a:solidFill>
                  <a:srgbClr val="C8553D"/>
                </a:solidFill>
                <a:latin typeface="Arial"/>
              </a:rPr>
              <a:t>01</a:t>
            </a:r>
          </a:p>
        </p:txBody>
      </p:sp>
      <p:sp>
        <p:nvSpPr>
          <p:cNvPr id="5" name="TextBox 4"/>
          <p:cNvSpPr txBox="1"/>
          <p:nvPr/>
        </p:nvSpPr>
        <p:spPr>
          <a:xfrm>
            <a:off x="1371600" y="2331720"/>
            <a:ext cx="4754880" cy="457200"/>
          </a:xfrm>
          <a:prstGeom prst="rect">
            <a:avLst/>
          </a:prstGeom>
          <a:noFill/>
        </p:spPr>
        <p:txBody>
          <a:bodyPr wrap="square" anchor="t" lIns="0" rIns="0" tIns="0" bIns="0">
            <a:spAutoFit/>
          </a:bodyPr>
          <a:lstStyle/>
          <a:p>
            <a:pPr algn="l">
              <a:lnSpc>
                <a:spcPct val="108000"/>
              </a:lnSpc>
              <a:spcAft>
                <a:spcPts val="0"/>
              </a:spcAft>
            </a:pPr>
            <a:r>
              <a:rPr sz="1800" b="0">
                <a:solidFill>
                  <a:srgbClr val="FFFFFF"/>
                </a:solidFill>
                <a:latin typeface="Arial"/>
              </a:rPr>
              <a:t>The stack is real</a:t>
            </a:r>
          </a:p>
        </p:txBody>
      </p:sp>
      <p:sp>
        <p:nvSpPr>
          <p:cNvPr id="6" name="TextBox 5"/>
          <p:cNvSpPr txBox="1"/>
          <p:nvPr/>
        </p:nvSpPr>
        <p:spPr>
          <a:xfrm>
            <a:off x="640080" y="3063240"/>
            <a:ext cx="640080" cy="457200"/>
          </a:xfrm>
          <a:prstGeom prst="rect">
            <a:avLst/>
          </a:prstGeom>
          <a:noFill/>
        </p:spPr>
        <p:txBody>
          <a:bodyPr wrap="square" anchor="t" lIns="0" rIns="0" tIns="0" bIns="0">
            <a:spAutoFit/>
          </a:bodyPr>
          <a:lstStyle/>
          <a:p>
            <a:pPr algn="l">
              <a:lnSpc>
                <a:spcPct val="108000"/>
              </a:lnSpc>
              <a:spcAft>
                <a:spcPts val="0"/>
              </a:spcAft>
            </a:pPr>
            <a:r>
              <a:rPr sz="2200" b="1">
                <a:solidFill>
                  <a:srgbClr val="C8553D"/>
                </a:solidFill>
                <a:latin typeface="Arial"/>
              </a:rPr>
              <a:t>02</a:t>
            </a:r>
          </a:p>
        </p:txBody>
      </p:sp>
      <p:sp>
        <p:nvSpPr>
          <p:cNvPr id="7" name="TextBox 6"/>
          <p:cNvSpPr txBox="1"/>
          <p:nvPr/>
        </p:nvSpPr>
        <p:spPr>
          <a:xfrm>
            <a:off x="1371600" y="3108960"/>
            <a:ext cx="4754880" cy="457200"/>
          </a:xfrm>
          <a:prstGeom prst="rect">
            <a:avLst/>
          </a:prstGeom>
          <a:noFill/>
        </p:spPr>
        <p:txBody>
          <a:bodyPr wrap="square" anchor="t" lIns="0" rIns="0" tIns="0" bIns="0">
            <a:spAutoFit/>
          </a:bodyPr>
          <a:lstStyle/>
          <a:p>
            <a:pPr algn="l">
              <a:lnSpc>
                <a:spcPct val="108000"/>
              </a:lnSpc>
              <a:spcAft>
                <a:spcPts val="0"/>
              </a:spcAft>
            </a:pPr>
            <a:r>
              <a:rPr sz="1800" b="0">
                <a:solidFill>
                  <a:srgbClr val="FFFFFF"/>
                </a:solidFill>
                <a:latin typeface="Arial"/>
              </a:rPr>
              <a:t>Paced replay + streaming projection</a:t>
            </a:r>
          </a:p>
        </p:txBody>
      </p:sp>
      <p:sp>
        <p:nvSpPr>
          <p:cNvPr id="8" name="TextBox 7"/>
          <p:cNvSpPr txBox="1"/>
          <p:nvPr/>
        </p:nvSpPr>
        <p:spPr>
          <a:xfrm>
            <a:off x="640080" y="3840480"/>
            <a:ext cx="640080" cy="457200"/>
          </a:xfrm>
          <a:prstGeom prst="rect">
            <a:avLst/>
          </a:prstGeom>
          <a:noFill/>
        </p:spPr>
        <p:txBody>
          <a:bodyPr wrap="square" anchor="t" lIns="0" rIns="0" tIns="0" bIns="0">
            <a:spAutoFit/>
          </a:bodyPr>
          <a:lstStyle/>
          <a:p>
            <a:pPr algn="l">
              <a:lnSpc>
                <a:spcPct val="108000"/>
              </a:lnSpc>
              <a:spcAft>
                <a:spcPts val="0"/>
              </a:spcAft>
            </a:pPr>
            <a:r>
              <a:rPr sz="2200" b="1">
                <a:solidFill>
                  <a:srgbClr val="C8553D"/>
                </a:solidFill>
                <a:latin typeface="Arial"/>
              </a:rPr>
              <a:t>03</a:t>
            </a:r>
          </a:p>
        </p:txBody>
      </p:sp>
      <p:sp>
        <p:nvSpPr>
          <p:cNvPr id="9" name="TextBox 8"/>
          <p:cNvSpPr txBox="1"/>
          <p:nvPr/>
        </p:nvSpPr>
        <p:spPr>
          <a:xfrm>
            <a:off x="1371600" y="3886200"/>
            <a:ext cx="4754880" cy="457200"/>
          </a:xfrm>
          <a:prstGeom prst="rect">
            <a:avLst/>
          </a:prstGeom>
          <a:noFill/>
        </p:spPr>
        <p:txBody>
          <a:bodyPr wrap="square" anchor="t" lIns="0" rIns="0" tIns="0" bIns="0">
            <a:spAutoFit/>
          </a:bodyPr>
          <a:lstStyle/>
          <a:p>
            <a:pPr algn="l">
              <a:lnSpc>
                <a:spcPct val="108000"/>
              </a:lnSpc>
              <a:spcAft>
                <a:spcPts val="0"/>
              </a:spcAft>
            </a:pPr>
            <a:r>
              <a:rPr sz="1800" b="0">
                <a:solidFill>
                  <a:srgbClr val="FFFFFF"/>
                </a:solidFill>
                <a:latin typeface="Arial"/>
              </a:rPr>
              <a:t>Silver’s reconciliation identity</a:t>
            </a:r>
          </a:p>
        </p:txBody>
      </p:sp>
      <p:sp>
        <p:nvSpPr>
          <p:cNvPr id="10" name="TextBox 9"/>
          <p:cNvSpPr txBox="1"/>
          <p:nvPr/>
        </p:nvSpPr>
        <p:spPr>
          <a:xfrm>
            <a:off x="640080" y="4617720"/>
            <a:ext cx="640080" cy="457200"/>
          </a:xfrm>
          <a:prstGeom prst="rect">
            <a:avLst/>
          </a:prstGeom>
          <a:noFill/>
        </p:spPr>
        <p:txBody>
          <a:bodyPr wrap="square" anchor="t" lIns="0" rIns="0" tIns="0" bIns="0">
            <a:spAutoFit/>
          </a:bodyPr>
          <a:lstStyle/>
          <a:p>
            <a:pPr algn="l">
              <a:lnSpc>
                <a:spcPct val="108000"/>
              </a:lnSpc>
              <a:spcAft>
                <a:spcPts val="0"/>
              </a:spcAft>
            </a:pPr>
            <a:r>
              <a:rPr sz="2200" b="1">
                <a:solidFill>
                  <a:srgbClr val="C8553D"/>
                </a:solidFill>
                <a:latin typeface="Arial"/>
              </a:rPr>
              <a:t>04</a:t>
            </a:r>
          </a:p>
        </p:txBody>
      </p:sp>
      <p:sp>
        <p:nvSpPr>
          <p:cNvPr id="11" name="TextBox 10"/>
          <p:cNvSpPr txBox="1"/>
          <p:nvPr/>
        </p:nvSpPr>
        <p:spPr>
          <a:xfrm>
            <a:off x="1371600" y="4663440"/>
            <a:ext cx="4754880" cy="457200"/>
          </a:xfrm>
          <a:prstGeom prst="rect">
            <a:avLst/>
          </a:prstGeom>
          <a:noFill/>
        </p:spPr>
        <p:txBody>
          <a:bodyPr wrap="square" anchor="t" lIns="0" rIns="0" tIns="0" bIns="0">
            <a:spAutoFit/>
          </a:bodyPr>
          <a:lstStyle/>
          <a:p>
            <a:pPr algn="l">
              <a:lnSpc>
                <a:spcPct val="108000"/>
              </a:lnSpc>
              <a:spcAft>
                <a:spcPts val="0"/>
              </a:spcAft>
            </a:pPr>
            <a:r>
              <a:rPr sz="1800" b="0">
                <a:solidFill>
                  <a:srgbClr val="FFFFFF"/>
                </a:solidFill>
                <a:latin typeface="Arial"/>
              </a:rPr>
              <a:t>Every run this data went through</a:t>
            </a:r>
          </a:p>
        </p:txBody>
      </p:sp>
      <p:sp>
        <p:nvSpPr>
          <p:cNvPr id="12" name="TextBox 11"/>
          <p:cNvSpPr txBox="1"/>
          <p:nvPr/>
        </p:nvSpPr>
        <p:spPr>
          <a:xfrm>
            <a:off x="640080" y="5394960"/>
            <a:ext cx="640080" cy="457200"/>
          </a:xfrm>
          <a:prstGeom prst="rect">
            <a:avLst/>
          </a:prstGeom>
          <a:noFill/>
        </p:spPr>
        <p:txBody>
          <a:bodyPr wrap="square" anchor="t" lIns="0" rIns="0" tIns="0" bIns="0">
            <a:spAutoFit/>
          </a:bodyPr>
          <a:lstStyle/>
          <a:p>
            <a:pPr algn="l">
              <a:lnSpc>
                <a:spcPct val="108000"/>
              </a:lnSpc>
              <a:spcAft>
                <a:spcPts val="0"/>
              </a:spcAft>
            </a:pPr>
            <a:r>
              <a:rPr sz="2200" b="1">
                <a:solidFill>
                  <a:srgbClr val="C8553D"/>
                </a:solidFill>
                <a:latin typeface="Arial"/>
              </a:rPr>
              <a:t>05</a:t>
            </a:r>
          </a:p>
        </p:txBody>
      </p:sp>
      <p:sp>
        <p:nvSpPr>
          <p:cNvPr id="13" name="TextBox 12"/>
          <p:cNvSpPr txBox="1"/>
          <p:nvPr/>
        </p:nvSpPr>
        <p:spPr>
          <a:xfrm>
            <a:off x="1371600" y="5440680"/>
            <a:ext cx="4754880" cy="457200"/>
          </a:xfrm>
          <a:prstGeom prst="rect">
            <a:avLst/>
          </a:prstGeom>
          <a:noFill/>
        </p:spPr>
        <p:txBody>
          <a:bodyPr wrap="square" anchor="t" lIns="0" rIns="0" tIns="0" bIns="0">
            <a:spAutoFit/>
          </a:bodyPr>
          <a:lstStyle/>
          <a:p>
            <a:pPr algn="l">
              <a:lnSpc>
                <a:spcPct val="108000"/>
              </a:lnSpc>
              <a:spcAft>
                <a:spcPts val="0"/>
              </a:spcAft>
            </a:pPr>
            <a:r>
              <a:rPr sz="1800" b="0">
                <a:solidFill>
                  <a:srgbClr val="FFFFFF"/>
                </a:solidFill>
                <a:latin typeface="Arial"/>
              </a:rPr>
              <a:t>Decline candidates (Kibana)</a:t>
            </a:r>
          </a:p>
        </p:txBody>
      </p:sp>
      <p:sp>
        <p:nvSpPr>
          <p:cNvPr id="14" name="TextBox 13"/>
          <p:cNvSpPr txBox="1"/>
          <p:nvPr/>
        </p:nvSpPr>
        <p:spPr>
          <a:xfrm>
            <a:off x="6217920" y="2286000"/>
            <a:ext cx="640080" cy="457200"/>
          </a:xfrm>
          <a:prstGeom prst="rect">
            <a:avLst/>
          </a:prstGeom>
          <a:noFill/>
        </p:spPr>
        <p:txBody>
          <a:bodyPr wrap="square" anchor="t" lIns="0" rIns="0" tIns="0" bIns="0">
            <a:spAutoFit/>
          </a:bodyPr>
          <a:lstStyle/>
          <a:p>
            <a:pPr algn="l">
              <a:lnSpc>
                <a:spcPct val="108000"/>
              </a:lnSpc>
              <a:spcAft>
                <a:spcPts val="0"/>
              </a:spcAft>
            </a:pPr>
            <a:r>
              <a:rPr sz="2200" b="1">
                <a:solidFill>
                  <a:srgbClr val="C8553D"/>
                </a:solidFill>
                <a:latin typeface="Arial"/>
              </a:rPr>
              <a:t>06</a:t>
            </a:r>
          </a:p>
        </p:txBody>
      </p:sp>
      <p:sp>
        <p:nvSpPr>
          <p:cNvPr id="15" name="TextBox 14"/>
          <p:cNvSpPr txBox="1"/>
          <p:nvPr/>
        </p:nvSpPr>
        <p:spPr>
          <a:xfrm>
            <a:off x="6949440" y="2331720"/>
            <a:ext cx="4754880" cy="457200"/>
          </a:xfrm>
          <a:prstGeom prst="rect">
            <a:avLst/>
          </a:prstGeom>
          <a:noFill/>
        </p:spPr>
        <p:txBody>
          <a:bodyPr wrap="square" anchor="t" lIns="0" rIns="0" tIns="0" bIns="0">
            <a:spAutoFit/>
          </a:bodyPr>
          <a:lstStyle/>
          <a:p>
            <a:pPr algn="l">
              <a:lnSpc>
                <a:spcPct val="108000"/>
              </a:lnSpc>
              <a:spcAft>
                <a:spcPts val="0"/>
              </a:spcAft>
            </a:pPr>
            <a:r>
              <a:rPr sz="1800" b="0">
                <a:solidFill>
                  <a:srgbClr val="FFFFFF"/>
                </a:solidFill>
                <a:latin typeface="Arial"/>
              </a:rPr>
              <a:t>Hybrid decomposition</a:t>
            </a:r>
          </a:p>
        </p:txBody>
      </p:sp>
      <p:sp>
        <p:nvSpPr>
          <p:cNvPr id="16" name="TextBox 15"/>
          <p:cNvSpPr txBox="1"/>
          <p:nvPr/>
        </p:nvSpPr>
        <p:spPr>
          <a:xfrm>
            <a:off x="6217920" y="3063240"/>
            <a:ext cx="640080" cy="457200"/>
          </a:xfrm>
          <a:prstGeom prst="rect">
            <a:avLst/>
          </a:prstGeom>
          <a:noFill/>
        </p:spPr>
        <p:txBody>
          <a:bodyPr wrap="square" anchor="t" lIns="0" rIns="0" tIns="0" bIns="0">
            <a:spAutoFit/>
          </a:bodyPr>
          <a:lstStyle/>
          <a:p>
            <a:pPr algn="l">
              <a:lnSpc>
                <a:spcPct val="108000"/>
              </a:lnSpc>
              <a:spcAft>
                <a:spcPts val="0"/>
              </a:spcAft>
            </a:pPr>
            <a:r>
              <a:rPr sz="2200" b="1">
                <a:solidFill>
                  <a:srgbClr val="C8553D"/>
                </a:solidFill>
                <a:latin typeface="Arial"/>
              </a:rPr>
              <a:t>07</a:t>
            </a:r>
          </a:p>
        </p:txBody>
      </p:sp>
      <p:sp>
        <p:nvSpPr>
          <p:cNvPr id="17" name="TextBox 16"/>
          <p:cNvSpPr txBox="1"/>
          <p:nvPr/>
        </p:nvSpPr>
        <p:spPr>
          <a:xfrm>
            <a:off x="6949440" y="3108960"/>
            <a:ext cx="4754880" cy="457200"/>
          </a:xfrm>
          <a:prstGeom prst="rect">
            <a:avLst/>
          </a:prstGeom>
          <a:noFill/>
        </p:spPr>
        <p:txBody>
          <a:bodyPr wrap="square" anchor="t" lIns="0" rIns="0" tIns="0" bIns="0">
            <a:spAutoFit/>
          </a:bodyPr>
          <a:lstStyle/>
          <a:p>
            <a:pPr algn="l">
              <a:lnSpc>
                <a:spcPct val="108000"/>
              </a:lnSpc>
              <a:spcAft>
                <a:spcPts val="0"/>
              </a:spcAft>
            </a:pPr>
            <a:r>
              <a:rPr sz="1800" b="0">
                <a:solidFill>
                  <a:srgbClr val="FFFFFF"/>
                </a:solidFill>
                <a:latin typeface="Arial"/>
              </a:rPr>
              <a:t>Complaint themes for the top candidate</a:t>
            </a:r>
          </a:p>
        </p:txBody>
      </p:sp>
      <p:sp>
        <p:nvSpPr>
          <p:cNvPr id="18" name="TextBox 17"/>
          <p:cNvSpPr txBox="1"/>
          <p:nvPr/>
        </p:nvSpPr>
        <p:spPr>
          <a:xfrm>
            <a:off x="6217920" y="3840480"/>
            <a:ext cx="640080" cy="457200"/>
          </a:xfrm>
          <a:prstGeom prst="rect">
            <a:avLst/>
          </a:prstGeom>
          <a:noFill/>
        </p:spPr>
        <p:txBody>
          <a:bodyPr wrap="square" anchor="t" lIns="0" rIns="0" tIns="0" bIns="0">
            <a:spAutoFit/>
          </a:bodyPr>
          <a:lstStyle/>
          <a:p>
            <a:pPr algn="l">
              <a:lnSpc>
                <a:spcPct val="108000"/>
              </a:lnSpc>
              <a:spcAft>
                <a:spcPts val="0"/>
              </a:spcAft>
            </a:pPr>
            <a:r>
              <a:rPr sz="2200" b="1">
                <a:solidFill>
                  <a:srgbClr val="C8553D"/>
                </a:solidFill>
                <a:latin typeface="Arial"/>
              </a:rPr>
              <a:t>08</a:t>
            </a:r>
          </a:p>
        </p:txBody>
      </p:sp>
      <p:sp>
        <p:nvSpPr>
          <p:cNvPr id="19" name="TextBox 18"/>
          <p:cNvSpPr txBox="1"/>
          <p:nvPr/>
        </p:nvSpPr>
        <p:spPr>
          <a:xfrm>
            <a:off x="6949440" y="3886200"/>
            <a:ext cx="4754880" cy="457200"/>
          </a:xfrm>
          <a:prstGeom prst="rect">
            <a:avLst/>
          </a:prstGeom>
          <a:noFill/>
        </p:spPr>
        <p:txBody>
          <a:bodyPr wrap="square" anchor="t" lIns="0" rIns="0" tIns="0" bIns="0">
            <a:spAutoFit/>
          </a:bodyPr>
          <a:lstStyle/>
          <a:p>
            <a:pPr algn="l">
              <a:lnSpc>
                <a:spcPct val="108000"/>
              </a:lnSpc>
              <a:spcAft>
                <a:spcPts val="0"/>
              </a:spcAft>
            </a:pPr>
            <a:r>
              <a:rPr sz="1800" b="0">
                <a:solidFill>
                  <a:srgbClr val="FFFFFF"/>
                </a:solidFill>
                <a:latin typeface="Arial"/>
              </a:rPr>
              <a:t>The evaluation table</a:t>
            </a:r>
          </a:p>
        </p:txBody>
      </p:sp>
      <p:sp>
        <p:nvSpPr>
          <p:cNvPr id="20" name="TextBox 19"/>
          <p:cNvSpPr txBox="1"/>
          <p:nvPr/>
        </p:nvSpPr>
        <p:spPr>
          <a:xfrm>
            <a:off x="6217920" y="4617720"/>
            <a:ext cx="640080" cy="457200"/>
          </a:xfrm>
          <a:prstGeom prst="rect">
            <a:avLst/>
          </a:prstGeom>
          <a:noFill/>
        </p:spPr>
        <p:txBody>
          <a:bodyPr wrap="square" anchor="t" lIns="0" rIns="0" tIns="0" bIns="0">
            <a:spAutoFit/>
          </a:bodyPr>
          <a:lstStyle/>
          <a:p>
            <a:pPr algn="l">
              <a:lnSpc>
                <a:spcPct val="108000"/>
              </a:lnSpc>
              <a:spcAft>
                <a:spcPts val="0"/>
              </a:spcAft>
            </a:pPr>
            <a:r>
              <a:rPr sz="2200" b="1">
                <a:solidFill>
                  <a:srgbClr val="C8553D"/>
                </a:solidFill>
                <a:latin typeface="Arial"/>
              </a:rPr>
              <a:t>09</a:t>
            </a:r>
          </a:p>
        </p:txBody>
      </p:sp>
      <p:sp>
        <p:nvSpPr>
          <p:cNvPr id="21" name="TextBox 20"/>
          <p:cNvSpPr txBox="1"/>
          <p:nvPr/>
        </p:nvSpPr>
        <p:spPr>
          <a:xfrm>
            <a:off x="6949440" y="4663440"/>
            <a:ext cx="4754880" cy="457200"/>
          </a:xfrm>
          <a:prstGeom prst="rect">
            <a:avLst/>
          </a:prstGeom>
          <a:noFill/>
        </p:spPr>
        <p:txBody>
          <a:bodyPr wrap="square" anchor="t" lIns="0" rIns="0" tIns="0" bIns="0">
            <a:spAutoFit/>
          </a:bodyPr>
          <a:lstStyle/>
          <a:p>
            <a:pPr algn="l">
              <a:lnSpc>
                <a:spcPct val="108000"/>
              </a:lnSpc>
              <a:spcAft>
                <a:spcPts val="0"/>
              </a:spcAft>
            </a:pPr>
            <a:r>
              <a:rPr sz="1800" b="0">
                <a:solidFill>
                  <a:srgbClr val="FFFFFF"/>
                </a:solidFill>
                <a:latin typeface="Arial"/>
              </a:rPr>
              <a:t>RAG answers, claim by claim</a:t>
            </a:r>
          </a:p>
        </p:txBody>
      </p:sp>
      <p:sp>
        <p:nvSpPr>
          <p:cNvPr id="22" name="TextBox 21"/>
          <p:cNvSpPr txBox="1"/>
          <p:nvPr/>
        </p:nvSpPr>
        <p:spPr>
          <a:xfrm>
            <a:off x="6217920" y="5394960"/>
            <a:ext cx="640080" cy="457200"/>
          </a:xfrm>
          <a:prstGeom prst="rect">
            <a:avLst/>
          </a:prstGeom>
          <a:noFill/>
        </p:spPr>
        <p:txBody>
          <a:bodyPr wrap="square" anchor="t" lIns="0" rIns="0" tIns="0" bIns="0">
            <a:spAutoFit/>
          </a:bodyPr>
          <a:lstStyle/>
          <a:p>
            <a:pPr algn="l">
              <a:lnSpc>
                <a:spcPct val="108000"/>
              </a:lnSpc>
              <a:spcAft>
                <a:spcPts val="0"/>
              </a:spcAft>
            </a:pPr>
            <a:r>
              <a:rPr sz="2200" b="1">
                <a:solidFill>
                  <a:srgbClr val="C8553D"/>
                </a:solidFill>
                <a:latin typeface="Arial"/>
              </a:rPr>
              <a:t>10</a:t>
            </a:r>
          </a:p>
        </p:txBody>
      </p:sp>
      <p:sp>
        <p:nvSpPr>
          <p:cNvPr id="23" name="TextBox 22"/>
          <p:cNvSpPr txBox="1"/>
          <p:nvPr/>
        </p:nvSpPr>
        <p:spPr>
          <a:xfrm>
            <a:off x="6949440" y="5440680"/>
            <a:ext cx="4754880" cy="457200"/>
          </a:xfrm>
          <a:prstGeom prst="rect">
            <a:avLst/>
          </a:prstGeom>
          <a:noFill/>
        </p:spPr>
        <p:txBody>
          <a:bodyPr wrap="square" anchor="t" lIns="0" rIns="0" tIns="0" bIns="0">
            <a:spAutoFit/>
          </a:bodyPr>
          <a:lstStyle/>
          <a:p>
            <a:pPr algn="l">
              <a:lnSpc>
                <a:spcPct val="108000"/>
              </a:lnSpc>
              <a:spcAft>
                <a:spcPts val="0"/>
              </a:spcAft>
            </a:pPr>
            <a:r>
              <a:rPr sz="1800" b="0">
                <a:solidFill>
                  <a:srgbClr val="FFFFFF"/>
                </a:solidFill>
                <a:latin typeface="Arial"/>
              </a:rPr>
              <a:t>The stream’s own gate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40080" y="457200"/>
            <a:ext cx="10911535" cy="822960"/>
          </a:xfrm>
          <a:prstGeom prst="rect">
            <a:avLst/>
          </a:prstGeom>
          <a:noFill/>
        </p:spPr>
        <p:txBody>
          <a:bodyPr wrap="square" anchor="t" lIns="0" rIns="0" tIns="0" bIns="0">
            <a:spAutoFit/>
          </a:bodyPr>
          <a:lstStyle/>
          <a:p>
            <a:pPr algn="l">
              <a:lnSpc>
                <a:spcPct val="108000"/>
              </a:lnSpc>
              <a:spcAft>
                <a:spcPts val="0"/>
              </a:spcAft>
            </a:pPr>
            <a:r>
              <a:rPr sz="3200" b="1">
                <a:solidFill>
                  <a:srgbClr val="14213D"/>
                </a:solidFill>
                <a:latin typeface="Arial"/>
              </a:rPr>
              <a:t>How we avoided fooling ourselves</a:t>
            </a:r>
          </a:p>
        </p:txBody>
      </p:sp>
      <p:sp>
        <p:nvSpPr>
          <p:cNvPr id="3" name="Rectangle 2"/>
          <p:cNvSpPr/>
          <p:nvPr/>
        </p:nvSpPr>
        <p:spPr>
          <a:xfrm>
            <a:off x="640080" y="1207008"/>
            <a:ext cx="822960" cy="54864"/>
          </a:xfrm>
          <a:prstGeom prst="rect">
            <a:avLst/>
          </a:prstGeom>
          <a:solidFill>
            <a:srgbClr val="C85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08415" y="6355080"/>
            <a:ext cx="2743200" cy="274320"/>
          </a:xfrm>
          <a:prstGeom prst="rect">
            <a:avLst/>
          </a:prstGeom>
          <a:noFill/>
        </p:spPr>
        <p:txBody>
          <a:bodyPr wrap="square" anchor="t" lIns="0" rIns="0" tIns="0" bIns="0">
            <a:spAutoFit/>
          </a:bodyPr>
          <a:lstStyle/>
          <a:p>
            <a:pPr algn="r">
              <a:lnSpc>
                <a:spcPct val="108000"/>
              </a:lnSpc>
              <a:spcAft>
                <a:spcPts val="0"/>
              </a:spcAft>
            </a:pPr>
            <a:r>
              <a:rPr sz="1000" b="0">
                <a:solidFill>
                  <a:srgbClr val="5B6472"/>
                </a:solidFill>
                <a:latin typeface="Arial"/>
              </a:rPr>
              <a:t>Review Radar · 6</a:t>
            </a:r>
          </a:p>
        </p:txBody>
      </p:sp>
      <p:sp>
        <p:nvSpPr>
          <p:cNvPr id="5" name="TextBox 4"/>
          <p:cNvSpPr txBox="1"/>
          <p:nvPr/>
        </p:nvSpPr>
        <p:spPr>
          <a:xfrm>
            <a:off x="640080" y="1600200"/>
            <a:ext cx="731520" cy="731520"/>
          </a:xfrm>
          <a:prstGeom prst="rect">
            <a:avLst/>
          </a:prstGeom>
          <a:noFill/>
        </p:spPr>
        <p:txBody>
          <a:bodyPr wrap="square" anchor="t" lIns="0" rIns="0" tIns="0" bIns="0">
            <a:spAutoFit/>
          </a:bodyPr>
          <a:lstStyle/>
          <a:p>
            <a:pPr algn="l">
              <a:lnSpc>
                <a:spcPct val="108000"/>
              </a:lnSpc>
              <a:spcAft>
                <a:spcPts val="0"/>
              </a:spcAft>
            </a:pPr>
            <a:r>
              <a:rPr sz="3600" b="1">
                <a:solidFill>
                  <a:srgbClr val="C8553D"/>
                </a:solidFill>
                <a:latin typeface="Arial"/>
              </a:rPr>
              <a:t>1</a:t>
            </a:r>
          </a:p>
        </p:txBody>
      </p:sp>
      <p:sp>
        <p:nvSpPr>
          <p:cNvPr id="6" name="TextBox 5"/>
          <p:cNvSpPr txBox="1"/>
          <p:nvPr/>
        </p:nvSpPr>
        <p:spPr>
          <a:xfrm>
            <a:off x="1417319" y="1618488"/>
            <a:ext cx="10134295" cy="365760"/>
          </a:xfrm>
          <a:prstGeom prst="rect">
            <a:avLst/>
          </a:prstGeom>
          <a:noFill/>
        </p:spPr>
        <p:txBody>
          <a:bodyPr wrap="square" anchor="t" lIns="0" rIns="0" tIns="0" bIns="0">
            <a:spAutoFit/>
          </a:bodyPr>
          <a:lstStyle/>
          <a:p>
            <a:pPr algn="l">
              <a:lnSpc>
                <a:spcPct val="108000"/>
              </a:lnSpc>
              <a:spcAft>
                <a:spcPts val="0"/>
              </a:spcAft>
            </a:pPr>
            <a:r>
              <a:rPr sz="2000" b="1">
                <a:solidFill>
                  <a:srgbClr val="14213D"/>
                </a:solidFill>
                <a:latin typeface="Arial"/>
              </a:rPr>
              <a:t>Temporal holdout, protocol freeze</a:t>
            </a:r>
          </a:p>
        </p:txBody>
      </p:sp>
      <p:sp>
        <p:nvSpPr>
          <p:cNvPr id="7" name="TextBox 6"/>
          <p:cNvSpPr txBox="1"/>
          <p:nvPr/>
        </p:nvSpPr>
        <p:spPr>
          <a:xfrm>
            <a:off x="1417319" y="2029967"/>
            <a:ext cx="10134295" cy="640080"/>
          </a:xfrm>
          <a:prstGeom prst="rect">
            <a:avLst/>
          </a:prstGeom>
          <a:noFill/>
        </p:spPr>
        <p:txBody>
          <a:bodyPr wrap="square" anchor="t" lIns="0" rIns="0" tIns="0" bIns="0">
            <a:spAutoFit/>
          </a:bodyPr>
          <a:lstStyle/>
          <a:p>
            <a:pPr algn="l">
              <a:lnSpc>
                <a:spcPct val="108000"/>
              </a:lnSpc>
              <a:spcAft>
                <a:spcPts val="0"/>
              </a:spcAft>
            </a:pPr>
            <a:r>
              <a:rPr sz="1600" b="0">
                <a:solidFill>
                  <a:srgbClr val="5B6472"/>
                </a:solidFill>
                <a:latin typeface="Arial"/>
              </a:rPr>
              <a:t>The decline rule was developed on pre-2020 data and sealed in one commit before a single 2020–2023 point was evaluated.</a:t>
            </a:r>
          </a:p>
        </p:txBody>
      </p:sp>
      <p:sp>
        <p:nvSpPr>
          <p:cNvPr id="8" name="TextBox 7"/>
          <p:cNvSpPr txBox="1"/>
          <p:nvPr/>
        </p:nvSpPr>
        <p:spPr>
          <a:xfrm>
            <a:off x="640080" y="2770632"/>
            <a:ext cx="731520" cy="731520"/>
          </a:xfrm>
          <a:prstGeom prst="rect">
            <a:avLst/>
          </a:prstGeom>
          <a:noFill/>
        </p:spPr>
        <p:txBody>
          <a:bodyPr wrap="square" anchor="t" lIns="0" rIns="0" tIns="0" bIns="0">
            <a:spAutoFit/>
          </a:bodyPr>
          <a:lstStyle/>
          <a:p>
            <a:pPr algn="l">
              <a:lnSpc>
                <a:spcPct val="108000"/>
              </a:lnSpc>
              <a:spcAft>
                <a:spcPts val="0"/>
              </a:spcAft>
            </a:pPr>
            <a:r>
              <a:rPr sz="3600" b="1">
                <a:solidFill>
                  <a:srgbClr val="C8553D"/>
                </a:solidFill>
                <a:latin typeface="Arial"/>
              </a:rPr>
              <a:t>2</a:t>
            </a:r>
          </a:p>
        </p:txBody>
      </p:sp>
      <p:sp>
        <p:nvSpPr>
          <p:cNvPr id="9" name="TextBox 8"/>
          <p:cNvSpPr txBox="1"/>
          <p:nvPr/>
        </p:nvSpPr>
        <p:spPr>
          <a:xfrm>
            <a:off x="1417319" y="2788920"/>
            <a:ext cx="10134295" cy="365760"/>
          </a:xfrm>
          <a:prstGeom prst="rect">
            <a:avLst/>
          </a:prstGeom>
          <a:noFill/>
        </p:spPr>
        <p:txBody>
          <a:bodyPr wrap="square" anchor="t" lIns="0" rIns="0" tIns="0" bIns="0">
            <a:spAutoFit/>
          </a:bodyPr>
          <a:lstStyle/>
          <a:p>
            <a:pPr algn="l">
              <a:lnSpc>
                <a:spcPct val="108000"/>
              </a:lnSpc>
              <a:spcAft>
                <a:spcPts val="0"/>
              </a:spcAft>
            </a:pPr>
            <a:r>
              <a:rPr sz="2000" b="1">
                <a:solidFill>
                  <a:srgbClr val="14213D"/>
                </a:solidFill>
                <a:latin typeface="Arial"/>
              </a:rPr>
              <a:t>Reproducibility is separate from outcome</a:t>
            </a:r>
          </a:p>
        </p:txBody>
      </p:sp>
      <p:sp>
        <p:nvSpPr>
          <p:cNvPr id="10" name="TextBox 9"/>
          <p:cNvSpPr txBox="1"/>
          <p:nvPr/>
        </p:nvSpPr>
        <p:spPr>
          <a:xfrm>
            <a:off x="1417319" y="3200400"/>
            <a:ext cx="10134295" cy="640080"/>
          </a:xfrm>
          <a:prstGeom prst="rect">
            <a:avLst/>
          </a:prstGeom>
          <a:noFill/>
        </p:spPr>
        <p:txBody>
          <a:bodyPr wrap="square" anchor="t" lIns="0" rIns="0" tIns="0" bIns="0">
            <a:spAutoFit/>
          </a:bodyPr>
          <a:lstStyle/>
          <a:p>
            <a:pPr algn="l">
              <a:lnSpc>
                <a:spcPct val="108000"/>
              </a:lnSpc>
              <a:spcAft>
                <a:spcPts val="0"/>
              </a:spcAft>
            </a:pPr>
            <a:r>
              <a:rPr sz="1600" b="0">
                <a:solidFill>
                  <a:srgbClr val="5B6472"/>
                </a:solidFill>
                <a:latin typeface="Arial"/>
              </a:rPr>
              <a:t>12 gates PASS on re-derivation; two re-derive silver and gold in pandas with no shared code (13 and 11 checks, 0 mismatched fields).</a:t>
            </a:r>
          </a:p>
        </p:txBody>
      </p:sp>
      <p:sp>
        <p:nvSpPr>
          <p:cNvPr id="11" name="TextBox 10"/>
          <p:cNvSpPr txBox="1"/>
          <p:nvPr/>
        </p:nvSpPr>
        <p:spPr>
          <a:xfrm>
            <a:off x="640080" y="3941064"/>
            <a:ext cx="731520" cy="731520"/>
          </a:xfrm>
          <a:prstGeom prst="rect">
            <a:avLst/>
          </a:prstGeom>
          <a:noFill/>
        </p:spPr>
        <p:txBody>
          <a:bodyPr wrap="square" anchor="t" lIns="0" rIns="0" tIns="0" bIns="0">
            <a:spAutoFit/>
          </a:bodyPr>
          <a:lstStyle/>
          <a:p>
            <a:pPr algn="l">
              <a:lnSpc>
                <a:spcPct val="108000"/>
              </a:lnSpc>
              <a:spcAft>
                <a:spcPts val="0"/>
              </a:spcAft>
            </a:pPr>
            <a:r>
              <a:rPr sz="3600" b="1">
                <a:solidFill>
                  <a:srgbClr val="C8553D"/>
                </a:solidFill>
                <a:latin typeface="Arial"/>
              </a:rPr>
              <a:t>3</a:t>
            </a:r>
          </a:p>
        </p:txBody>
      </p:sp>
      <p:sp>
        <p:nvSpPr>
          <p:cNvPr id="12" name="TextBox 11"/>
          <p:cNvSpPr txBox="1"/>
          <p:nvPr/>
        </p:nvSpPr>
        <p:spPr>
          <a:xfrm>
            <a:off x="1417319" y="3959352"/>
            <a:ext cx="10134295" cy="365760"/>
          </a:xfrm>
          <a:prstGeom prst="rect">
            <a:avLst/>
          </a:prstGeom>
          <a:noFill/>
        </p:spPr>
        <p:txBody>
          <a:bodyPr wrap="square" anchor="t" lIns="0" rIns="0" tIns="0" bIns="0">
            <a:spAutoFit/>
          </a:bodyPr>
          <a:lstStyle/>
          <a:p>
            <a:pPr algn="l">
              <a:lnSpc>
                <a:spcPct val="108000"/>
              </a:lnSpc>
              <a:spcAft>
                <a:spcPts val="0"/>
              </a:spcAft>
            </a:pPr>
            <a:r>
              <a:rPr sz="2000" b="1">
                <a:solidFill>
                  <a:srgbClr val="14213D"/>
                </a:solidFill>
                <a:latin typeface="Arial"/>
              </a:rPr>
              <a:t>Bars set before the measurement, never moved</a:t>
            </a:r>
          </a:p>
        </p:txBody>
      </p:sp>
      <p:sp>
        <p:nvSpPr>
          <p:cNvPr id="13" name="TextBox 12"/>
          <p:cNvSpPr txBox="1"/>
          <p:nvPr/>
        </p:nvSpPr>
        <p:spPr>
          <a:xfrm>
            <a:off x="1417319" y="4370832"/>
            <a:ext cx="10134295" cy="640080"/>
          </a:xfrm>
          <a:prstGeom prst="rect">
            <a:avLst/>
          </a:prstGeom>
          <a:noFill/>
        </p:spPr>
        <p:txBody>
          <a:bodyPr wrap="square" anchor="t" lIns="0" rIns="0" tIns="0" bIns="0">
            <a:spAutoFit/>
          </a:bodyPr>
          <a:lstStyle/>
          <a:p>
            <a:pPr algn="l">
              <a:lnSpc>
                <a:spcPct val="108000"/>
              </a:lnSpc>
              <a:spcAft>
                <a:spcPts val="0"/>
              </a:spcAft>
            </a:pPr>
            <a:r>
              <a:rPr sz="1600" b="0">
                <a:solidFill>
                  <a:srgbClr val="5B6472"/>
                </a:solidFill>
                <a:latin typeface="Arial"/>
              </a:rPr>
              <a:t>When the labeller dropped from a hosted model to a local 8B model, 0.70 stayed 0.70. The audit set was opened once.</a:t>
            </a:r>
          </a:p>
        </p:txBody>
      </p:sp>
      <p:sp>
        <p:nvSpPr>
          <p:cNvPr id="14" name="TextBox 13"/>
          <p:cNvSpPr txBox="1"/>
          <p:nvPr/>
        </p:nvSpPr>
        <p:spPr>
          <a:xfrm>
            <a:off x="640080" y="5111496"/>
            <a:ext cx="731520" cy="731520"/>
          </a:xfrm>
          <a:prstGeom prst="rect">
            <a:avLst/>
          </a:prstGeom>
          <a:noFill/>
        </p:spPr>
        <p:txBody>
          <a:bodyPr wrap="square" anchor="t" lIns="0" rIns="0" tIns="0" bIns="0">
            <a:spAutoFit/>
          </a:bodyPr>
          <a:lstStyle/>
          <a:p>
            <a:pPr algn="l">
              <a:lnSpc>
                <a:spcPct val="108000"/>
              </a:lnSpc>
              <a:spcAft>
                <a:spcPts val="0"/>
              </a:spcAft>
            </a:pPr>
            <a:r>
              <a:rPr sz="3600" b="1">
                <a:solidFill>
                  <a:srgbClr val="C8553D"/>
                </a:solidFill>
                <a:latin typeface="Arial"/>
              </a:rPr>
              <a:t>4</a:t>
            </a:r>
          </a:p>
        </p:txBody>
      </p:sp>
      <p:sp>
        <p:nvSpPr>
          <p:cNvPr id="15" name="TextBox 14"/>
          <p:cNvSpPr txBox="1"/>
          <p:nvPr/>
        </p:nvSpPr>
        <p:spPr>
          <a:xfrm>
            <a:off x="1417319" y="5129783"/>
            <a:ext cx="10134295" cy="365760"/>
          </a:xfrm>
          <a:prstGeom prst="rect">
            <a:avLst/>
          </a:prstGeom>
          <a:noFill/>
        </p:spPr>
        <p:txBody>
          <a:bodyPr wrap="square" anchor="t" lIns="0" rIns="0" tIns="0" bIns="0">
            <a:spAutoFit/>
          </a:bodyPr>
          <a:lstStyle/>
          <a:p>
            <a:pPr algn="l">
              <a:lnSpc>
                <a:spcPct val="108000"/>
              </a:lnSpc>
              <a:spcAft>
                <a:spcPts val="0"/>
              </a:spcAft>
            </a:pPr>
            <a:r>
              <a:rPr sz="2000" b="1">
                <a:solidFill>
                  <a:srgbClr val="14213D"/>
                </a:solidFill>
                <a:latin typeface="Arial"/>
              </a:rPr>
              <a:t>Every number joins back to a run</a:t>
            </a:r>
          </a:p>
        </p:txBody>
      </p:sp>
      <p:sp>
        <p:nvSpPr>
          <p:cNvPr id="16" name="TextBox 15"/>
          <p:cNvSpPr txBox="1"/>
          <p:nvPr/>
        </p:nvSpPr>
        <p:spPr>
          <a:xfrm>
            <a:off x="1417319" y="5541264"/>
            <a:ext cx="10134295" cy="640080"/>
          </a:xfrm>
          <a:prstGeom prst="rect">
            <a:avLst/>
          </a:prstGeom>
          <a:noFill/>
        </p:spPr>
        <p:txBody>
          <a:bodyPr wrap="square" anchor="t" lIns="0" rIns="0" tIns="0" bIns="0">
            <a:spAutoFit/>
          </a:bodyPr>
          <a:lstStyle/>
          <a:p>
            <a:pPr algn="l">
              <a:lnSpc>
                <a:spcPct val="108000"/>
              </a:lnSpc>
              <a:spcAft>
                <a:spcPts val="0"/>
              </a:spcAft>
            </a:pPr>
            <a:r>
              <a:rPr sz="1600" b="0">
                <a:solidFill>
                  <a:srgbClr val="5B6472"/>
                </a:solidFill>
                <a:latin typeface="Arial"/>
              </a:rPr>
              <a:t>A run_id in every Iceberg snapshot, ES doc and eval artefact; the lineage gate walks 101 links.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40080" y="457200"/>
            <a:ext cx="10911535" cy="822960"/>
          </a:xfrm>
          <a:prstGeom prst="rect">
            <a:avLst/>
          </a:prstGeom>
          <a:noFill/>
        </p:spPr>
        <p:txBody>
          <a:bodyPr wrap="square" anchor="t" lIns="0" rIns="0" tIns="0" bIns="0">
            <a:spAutoFit/>
          </a:bodyPr>
          <a:lstStyle/>
          <a:p>
            <a:pPr algn="l">
              <a:lnSpc>
                <a:spcPct val="108000"/>
              </a:lnSpc>
              <a:spcAft>
                <a:spcPts val="0"/>
              </a:spcAft>
            </a:pPr>
            <a:r>
              <a:rPr sz="3200" b="1">
                <a:solidFill>
                  <a:srgbClr val="14213D"/>
                </a:solidFill>
                <a:latin typeface="Arial"/>
              </a:rPr>
              <a:t>Results, zoomed out</a:t>
            </a:r>
          </a:p>
        </p:txBody>
      </p:sp>
      <p:sp>
        <p:nvSpPr>
          <p:cNvPr id="3" name="Rectangle 2"/>
          <p:cNvSpPr/>
          <p:nvPr/>
        </p:nvSpPr>
        <p:spPr>
          <a:xfrm>
            <a:off x="640080" y="1207008"/>
            <a:ext cx="822960" cy="54864"/>
          </a:xfrm>
          <a:prstGeom prst="rect">
            <a:avLst/>
          </a:prstGeom>
          <a:solidFill>
            <a:srgbClr val="C85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08415" y="6355080"/>
            <a:ext cx="2743200" cy="274320"/>
          </a:xfrm>
          <a:prstGeom prst="rect">
            <a:avLst/>
          </a:prstGeom>
          <a:noFill/>
        </p:spPr>
        <p:txBody>
          <a:bodyPr wrap="square" anchor="t" lIns="0" rIns="0" tIns="0" bIns="0">
            <a:spAutoFit/>
          </a:bodyPr>
          <a:lstStyle/>
          <a:p>
            <a:pPr algn="r">
              <a:lnSpc>
                <a:spcPct val="108000"/>
              </a:lnSpc>
              <a:spcAft>
                <a:spcPts val="0"/>
              </a:spcAft>
            </a:pPr>
            <a:r>
              <a:rPr sz="1000" b="0">
                <a:solidFill>
                  <a:srgbClr val="5B6472"/>
                </a:solidFill>
                <a:latin typeface="Arial"/>
              </a:rPr>
              <a:t>Review Radar · 7</a:t>
            </a:r>
          </a:p>
        </p:txBody>
      </p:sp>
      <p:sp>
        <p:nvSpPr>
          <p:cNvPr id="5" name="Rectangle 4"/>
          <p:cNvSpPr/>
          <p:nvPr/>
        </p:nvSpPr>
        <p:spPr>
          <a:xfrm>
            <a:off x="640080" y="1600200"/>
            <a:ext cx="5349240" cy="1874519"/>
          </a:xfrm>
          <a:prstGeom prst="rect">
            <a:avLst/>
          </a:prstGeom>
          <a:solidFill>
            <a:srgbClr val="EE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600200"/>
            <a:ext cx="64008" cy="1874519"/>
          </a:xfrm>
          <a:prstGeom prst="rect">
            <a:avLst/>
          </a:prstGeom>
          <a:solidFill>
            <a:srgbClr val="C85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64792"/>
            <a:ext cx="4983479" cy="640080"/>
          </a:xfrm>
          <a:prstGeom prst="rect">
            <a:avLst/>
          </a:prstGeom>
          <a:noFill/>
        </p:spPr>
        <p:txBody>
          <a:bodyPr wrap="square" anchor="t" lIns="0" rIns="0" tIns="0" bIns="0">
            <a:spAutoFit/>
          </a:bodyPr>
          <a:lstStyle/>
          <a:p>
            <a:pPr algn="l">
              <a:lnSpc>
                <a:spcPct val="108000"/>
              </a:lnSpc>
              <a:spcAft>
                <a:spcPts val="0"/>
              </a:spcAft>
            </a:pPr>
            <a:r>
              <a:rPr sz="3000" b="1">
                <a:solidFill>
                  <a:srgbClr val="C8553D"/>
                </a:solidFill>
                <a:latin typeface="Arial"/>
              </a:rPr>
              <a:t>139 of 502</a:t>
            </a:r>
          </a:p>
        </p:txBody>
      </p:sp>
      <p:sp>
        <p:nvSpPr>
          <p:cNvPr id="8" name="TextBox 7"/>
          <p:cNvSpPr txBox="1"/>
          <p:nvPr/>
        </p:nvSpPr>
        <p:spPr>
          <a:xfrm>
            <a:off x="868680" y="2336291"/>
            <a:ext cx="4983479" cy="960119"/>
          </a:xfrm>
          <a:prstGeom prst="rect">
            <a:avLst/>
          </a:prstGeom>
          <a:noFill/>
        </p:spPr>
        <p:txBody>
          <a:bodyPr wrap="square" anchor="t" lIns="0" rIns="0" tIns="0" bIns="0">
            <a:spAutoFit/>
          </a:bodyPr>
          <a:lstStyle/>
          <a:p>
            <a:pPr algn="l">
              <a:lnSpc>
                <a:spcPct val="108000"/>
              </a:lnSpc>
              <a:spcAft>
                <a:spcPts val="0"/>
              </a:spcAft>
            </a:pPr>
            <a:r>
              <a:rPr sz="1500" b="0">
                <a:solidFill>
                  <a:srgbClr val="5B6472"/>
                </a:solidFill>
                <a:latin typeface="Arial"/>
              </a:rPr>
              <a:t>eligible products alerted in the 2020–2023 holdout (27.7%) — 148 alerts, 148 episodes</a:t>
            </a:r>
          </a:p>
        </p:txBody>
      </p:sp>
      <p:sp>
        <p:nvSpPr>
          <p:cNvPr id="9" name="Rectangle 8"/>
          <p:cNvSpPr/>
          <p:nvPr/>
        </p:nvSpPr>
        <p:spPr>
          <a:xfrm>
            <a:off x="6199632" y="1600200"/>
            <a:ext cx="5349240" cy="1874519"/>
          </a:xfrm>
          <a:prstGeom prst="rect">
            <a:avLst/>
          </a:prstGeom>
          <a:solidFill>
            <a:srgbClr val="EE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99632" y="1600200"/>
            <a:ext cx="64008" cy="1874519"/>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8232" y="1764792"/>
            <a:ext cx="4983479" cy="640080"/>
          </a:xfrm>
          <a:prstGeom prst="rect">
            <a:avLst/>
          </a:prstGeom>
          <a:noFill/>
        </p:spPr>
        <p:txBody>
          <a:bodyPr wrap="square" anchor="t" lIns="0" rIns="0" tIns="0" bIns="0">
            <a:spAutoFit/>
          </a:bodyPr>
          <a:lstStyle/>
          <a:p>
            <a:pPr algn="l">
              <a:lnSpc>
                <a:spcPct val="108000"/>
              </a:lnSpc>
              <a:spcAft>
                <a:spcPts val="0"/>
              </a:spcAft>
            </a:pPr>
            <a:r>
              <a:rPr sz="3000" b="1">
                <a:solidFill>
                  <a:srgbClr val="14213D"/>
                </a:solidFill>
                <a:latin typeface="Arial"/>
              </a:rPr>
              <a:t>425 episodes</a:t>
            </a:r>
          </a:p>
        </p:txBody>
      </p:sp>
      <p:sp>
        <p:nvSpPr>
          <p:cNvPr id="12" name="TextBox 11"/>
          <p:cNvSpPr txBox="1"/>
          <p:nvPr/>
        </p:nvSpPr>
        <p:spPr>
          <a:xfrm>
            <a:off x="6428232" y="2336291"/>
            <a:ext cx="4983479" cy="960119"/>
          </a:xfrm>
          <a:prstGeom prst="rect">
            <a:avLst/>
          </a:prstGeom>
          <a:noFill/>
        </p:spPr>
        <p:txBody>
          <a:bodyPr wrap="square" anchor="t" lIns="0" rIns="0" tIns="0" bIns="0">
            <a:spAutoFit/>
          </a:bodyPr>
          <a:lstStyle/>
          <a:p>
            <a:pPr algn="l">
              <a:lnSpc>
                <a:spcPct val="108000"/>
              </a:lnSpc>
              <a:spcAft>
                <a:spcPts val="0"/>
              </a:spcAft>
            </a:pPr>
            <a:r>
              <a:rPr sz="1500" b="0">
                <a:solidFill>
                  <a:srgbClr val="5B6472"/>
                </a:solidFill>
                <a:latin typeface="Arial"/>
              </a:rPr>
              <a:t>over the whole spine — closed by recovery 207, gap 165, end of data 53</a:t>
            </a:r>
          </a:p>
        </p:txBody>
      </p:sp>
      <p:sp>
        <p:nvSpPr>
          <p:cNvPr id="13" name="Rectangle 12"/>
          <p:cNvSpPr/>
          <p:nvPr/>
        </p:nvSpPr>
        <p:spPr>
          <a:xfrm>
            <a:off x="640080" y="3657600"/>
            <a:ext cx="5349240" cy="1874519"/>
          </a:xfrm>
          <a:prstGeom prst="rect">
            <a:avLst/>
          </a:prstGeom>
          <a:solidFill>
            <a:srgbClr val="EE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 y="3657600"/>
            <a:ext cx="64008" cy="1874519"/>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822191"/>
            <a:ext cx="4983479" cy="640080"/>
          </a:xfrm>
          <a:prstGeom prst="rect">
            <a:avLst/>
          </a:prstGeom>
          <a:noFill/>
        </p:spPr>
        <p:txBody>
          <a:bodyPr wrap="square" anchor="t" lIns="0" rIns="0" tIns="0" bIns="0">
            <a:spAutoFit/>
          </a:bodyPr>
          <a:lstStyle/>
          <a:p>
            <a:pPr algn="l">
              <a:lnSpc>
                <a:spcPct val="108000"/>
              </a:lnSpc>
              <a:spcAft>
                <a:spcPts val="0"/>
              </a:spcAft>
            </a:pPr>
            <a:r>
              <a:rPr sz="3000" b="1">
                <a:solidFill>
                  <a:srgbClr val="14213D"/>
                </a:solidFill>
                <a:latin typeface="Arial"/>
              </a:rPr>
              <a:t>0.186 vs 0.80</a:t>
            </a:r>
          </a:p>
        </p:txBody>
      </p:sp>
      <p:sp>
        <p:nvSpPr>
          <p:cNvPr id="16" name="TextBox 15"/>
          <p:cNvSpPr txBox="1"/>
          <p:nvPr/>
        </p:nvSpPr>
        <p:spPr>
          <a:xfrm>
            <a:off x="868680" y="4393692"/>
            <a:ext cx="4983479" cy="960119"/>
          </a:xfrm>
          <a:prstGeom prst="rect">
            <a:avLst/>
          </a:prstGeom>
          <a:noFill/>
        </p:spPr>
        <p:txBody>
          <a:bodyPr wrap="square" anchor="t" lIns="0" rIns="0" tIns="0" bIns="0">
            <a:spAutoFit/>
          </a:bodyPr>
          <a:lstStyle/>
          <a:p>
            <a:pPr algn="l">
              <a:lnSpc>
                <a:spcPct val="108000"/>
              </a:lnSpc>
              <a:spcAft>
                <a:spcPts val="0"/>
              </a:spcAft>
            </a:pPr>
            <a:r>
              <a:rPr sz="1500" b="0">
                <a:solidFill>
                  <a:srgbClr val="5B6472"/>
                </a:solidFill>
                <a:latin typeface="Arial"/>
              </a:rPr>
              <a:t>detection power at the 0.3★ step [0.168, 0.205] against the pre-registered bar — a published FAIL</a:t>
            </a:r>
          </a:p>
        </p:txBody>
      </p:sp>
      <p:sp>
        <p:nvSpPr>
          <p:cNvPr id="17" name="Rectangle 16"/>
          <p:cNvSpPr/>
          <p:nvPr/>
        </p:nvSpPr>
        <p:spPr>
          <a:xfrm>
            <a:off x="6199632" y="3657600"/>
            <a:ext cx="5349240" cy="1874519"/>
          </a:xfrm>
          <a:prstGeom prst="rect">
            <a:avLst/>
          </a:prstGeom>
          <a:solidFill>
            <a:srgbClr val="EE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99632" y="3657600"/>
            <a:ext cx="64008" cy="1874519"/>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28232" y="3822191"/>
            <a:ext cx="4983479" cy="640080"/>
          </a:xfrm>
          <a:prstGeom prst="rect">
            <a:avLst/>
          </a:prstGeom>
          <a:noFill/>
        </p:spPr>
        <p:txBody>
          <a:bodyPr wrap="square" anchor="t" lIns="0" rIns="0" tIns="0" bIns="0">
            <a:spAutoFit/>
          </a:bodyPr>
          <a:lstStyle/>
          <a:p>
            <a:pPr algn="l">
              <a:lnSpc>
                <a:spcPct val="108000"/>
              </a:lnSpc>
              <a:spcAft>
                <a:spcPts val="0"/>
              </a:spcAft>
            </a:pPr>
            <a:r>
              <a:rPr sz="3000" b="1">
                <a:solidFill>
                  <a:srgbClr val="14213D"/>
                </a:solidFill>
                <a:latin typeface="Arial"/>
              </a:rPr>
              <a:t>0.4583 vs 0.70</a:t>
            </a:r>
          </a:p>
        </p:txBody>
      </p:sp>
      <p:sp>
        <p:nvSpPr>
          <p:cNvPr id="20" name="TextBox 19"/>
          <p:cNvSpPr txBox="1"/>
          <p:nvPr/>
        </p:nvSpPr>
        <p:spPr>
          <a:xfrm>
            <a:off x="6428232" y="4393692"/>
            <a:ext cx="4983479" cy="960119"/>
          </a:xfrm>
          <a:prstGeom prst="rect">
            <a:avLst/>
          </a:prstGeom>
          <a:noFill/>
        </p:spPr>
        <p:txBody>
          <a:bodyPr wrap="square" anchor="t" lIns="0" rIns="0" tIns="0" bIns="0">
            <a:spAutoFit/>
          </a:bodyPr>
          <a:lstStyle/>
          <a:p>
            <a:pPr algn="l">
              <a:lnSpc>
                <a:spcPct val="108000"/>
              </a:lnSpc>
              <a:spcAft>
                <a:spcPts val="0"/>
              </a:spcAft>
            </a:pPr>
            <a:r>
              <a:rPr sz="1500" b="0">
                <a:solidFill>
                  <a:srgbClr val="5B6472"/>
                </a:solidFill>
                <a:latin typeface="Arial"/>
              </a:rPr>
              <a:t>theme macro-F1 [0.3647, 0.5223] — a published FAIL, but above the star-only floor 0.2968; MLlib baseline 0.3899</a:t>
            </a:r>
          </a:p>
        </p:txBody>
      </p:sp>
      <p:sp>
        <p:nvSpPr>
          <p:cNvPr id="21" name="TextBox 20"/>
          <p:cNvSpPr txBox="1"/>
          <p:nvPr/>
        </p:nvSpPr>
        <p:spPr>
          <a:xfrm>
            <a:off x="640080" y="5760720"/>
            <a:ext cx="10911535" cy="548640"/>
          </a:xfrm>
          <a:prstGeom prst="rect">
            <a:avLst/>
          </a:prstGeom>
          <a:noFill/>
        </p:spPr>
        <p:txBody>
          <a:bodyPr wrap="square" anchor="t" lIns="0" rIns="0" tIns="0" bIns="0">
            <a:spAutoFit/>
          </a:bodyPr>
          <a:lstStyle/>
          <a:p>
            <a:pPr algn="l">
              <a:lnSpc>
                <a:spcPct val="108000"/>
              </a:lnSpc>
              <a:spcAft>
                <a:spcPts val="0"/>
              </a:spcAft>
            </a:pPr>
            <a:r>
              <a:rPr sz="1800" b="1">
                <a:solidFill>
                  <a:srgbClr val="14213D"/>
                </a:solidFill>
                <a:latin typeface="Arial"/>
              </a:rPr>
              <a:t>An alert is unlikely to be noise. The 139 are a floor, not a census — and an alert is not causal proof.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40080" y="457200"/>
            <a:ext cx="10911535" cy="822960"/>
          </a:xfrm>
          <a:prstGeom prst="rect">
            <a:avLst/>
          </a:prstGeom>
          <a:noFill/>
        </p:spPr>
        <p:txBody>
          <a:bodyPr wrap="square" anchor="t" lIns="0" rIns="0" tIns="0" bIns="0">
            <a:spAutoFit/>
          </a:bodyPr>
          <a:lstStyle/>
          <a:p>
            <a:pPr algn="l">
              <a:lnSpc>
                <a:spcPct val="108000"/>
              </a:lnSpc>
              <a:spcAft>
                <a:spcPts val="0"/>
              </a:spcAft>
            </a:pPr>
            <a:r>
              <a:rPr sz="3200" b="1">
                <a:solidFill>
                  <a:srgbClr val="14213D"/>
                </a:solidFill>
                <a:latin typeface="Arial"/>
              </a:rPr>
              <a:t>Trade-offs, and what we declined</a:t>
            </a:r>
          </a:p>
        </p:txBody>
      </p:sp>
      <p:sp>
        <p:nvSpPr>
          <p:cNvPr id="3" name="Rectangle 2"/>
          <p:cNvSpPr/>
          <p:nvPr/>
        </p:nvSpPr>
        <p:spPr>
          <a:xfrm>
            <a:off x="640080" y="1207008"/>
            <a:ext cx="822960" cy="54864"/>
          </a:xfrm>
          <a:prstGeom prst="rect">
            <a:avLst/>
          </a:prstGeom>
          <a:solidFill>
            <a:srgbClr val="C85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08415" y="6355080"/>
            <a:ext cx="2743200" cy="274320"/>
          </a:xfrm>
          <a:prstGeom prst="rect">
            <a:avLst/>
          </a:prstGeom>
          <a:noFill/>
        </p:spPr>
        <p:txBody>
          <a:bodyPr wrap="square" anchor="t" lIns="0" rIns="0" tIns="0" bIns="0">
            <a:spAutoFit/>
          </a:bodyPr>
          <a:lstStyle/>
          <a:p>
            <a:pPr algn="r">
              <a:lnSpc>
                <a:spcPct val="108000"/>
              </a:lnSpc>
              <a:spcAft>
                <a:spcPts val="0"/>
              </a:spcAft>
            </a:pPr>
            <a:r>
              <a:rPr sz="1000" b="0">
                <a:solidFill>
                  <a:srgbClr val="5B6472"/>
                </a:solidFill>
                <a:latin typeface="Arial"/>
              </a:rPr>
              <a:t>Review Radar · 8</a:t>
            </a:r>
          </a:p>
        </p:txBody>
      </p:sp>
      <p:sp>
        <p:nvSpPr>
          <p:cNvPr id="5" name="TextBox 4"/>
          <p:cNvSpPr txBox="1"/>
          <p:nvPr/>
        </p:nvSpPr>
        <p:spPr>
          <a:xfrm>
            <a:off x="640080" y="1554480"/>
            <a:ext cx="5272887" cy="274320"/>
          </a:xfrm>
          <a:prstGeom prst="rect">
            <a:avLst/>
          </a:prstGeom>
          <a:noFill/>
        </p:spPr>
        <p:txBody>
          <a:bodyPr wrap="square" anchor="t" lIns="0" rIns="0" tIns="0" bIns="0">
            <a:spAutoFit/>
          </a:bodyPr>
          <a:lstStyle/>
          <a:p>
            <a:pPr algn="l">
              <a:lnSpc>
                <a:spcPct val="108000"/>
              </a:lnSpc>
              <a:spcAft>
                <a:spcPts val="0"/>
              </a:spcAft>
            </a:pPr>
            <a:r>
              <a:rPr sz="1100" b="1">
                <a:solidFill>
                  <a:srgbClr val="C8553D"/>
                </a:solidFill>
                <a:latin typeface="Arial"/>
              </a:rPr>
              <a:t>THREE TRADE-OFFS</a:t>
            </a:r>
          </a:p>
        </p:txBody>
      </p:sp>
      <p:sp>
        <p:nvSpPr>
          <p:cNvPr id="6" name="TextBox 5"/>
          <p:cNvSpPr txBox="1"/>
          <p:nvPr/>
        </p:nvSpPr>
        <p:spPr>
          <a:xfrm>
            <a:off x="640080" y="1920240"/>
            <a:ext cx="5272887" cy="4114800"/>
          </a:xfrm>
          <a:prstGeom prst="rect">
            <a:avLst/>
          </a:prstGeom>
          <a:noFill/>
        </p:spPr>
        <p:txBody>
          <a:bodyPr wrap="square" anchor="t" lIns="0" rIns="0" tIns="0" bIns="0">
            <a:spAutoFit/>
          </a:bodyPr>
          <a:lstStyle/>
          <a:p>
            <a:pPr algn="l">
              <a:lnSpc>
                <a:spcPct val="108000"/>
              </a:lnSpc>
              <a:spcAft>
                <a:spcPts val="1400"/>
              </a:spcAft>
            </a:pPr>
            <a:r>
              <a:rPr sz="1800" b="1">
                <a:solidFill>
                  <a:srgbClr val="14213D"/>
                </a:solidFill>
                <a:latin typeface="Arial"/>
              </a:rPr>
              <a:t>Iceberg is not a course technology. </a:t>
            </a:r>
            <a:r>
              <a:rPr sz="1800" b="0">
                <a:solidFill>
                  <a:srgbClr val="5B6472"/>
                </a:solidFill>
                <a:latin typeface="Arial"/>
              </a:rPr>
              <a:t>One mention in ~860 slides; conceded up front, earned on mechanism.</a:t>
            </a:r>
          </a:p>
          <a:p>
            <a:pPr algn="l">
              <a:lnSpc>
                <a:spcPct val="108000"/>
              </a:lnSpc>
              <a:spcAft>
                <a:spcPts val="1400"/>
              </a:spcAft>
            </a:pPr>
            <a:r>
              <a:rPr sz="1800" b="1">
                <a:solidFill>
                  <a:srgbClr val="14213D"/>
                </a:solidFill>
                <a:latin typeface="Arial"/>
              </a:rPr>
              <a:t>A local qwen3:8b instead of a hosted model. </a:t>
            </a:r>
            <a:r>
              <a:rPr sz="1800" b="0">
                <a:solidFill>
                  <a:srgbClr val="5B6472"/>
                </a:solidFill>
                <a:latin typeface="Arial"/>
              </a:rPr>
              <a:t>The 0.70 bar deliberately unmoved, so the constraint shows as a reported miss.</a:t>
            </a:r>
          </a:p>
          <a:p>
            <a:pPr algn="l">
              <a:lnSpc>
                <a:spcPct val="108000"/>
              </a:lnSpc>
              <a:spcAft>
                <a:spcPts val="1400"/>
              </a:spcAft>
            </a:pPr>
            <a:r>
              <a:rPr sz="1800" b="1">
                <a:solidFill>
                  <a:srgbClr val="14213D"/>
                </a:solidFill>
                <a:latin typeface="Arial"/>
              </a:rPr>
              <a:t>Public but sensitive review text. </a:t>
            </a:r>
            <a:r>
              <a:rPr sz="1800" b="0">
                <a:solidFill>
                  <a:srgbClr val="5B6472"/>
                </a:solidFill>
                <a:latin typeface="Arial"/>
              </a:rPr>
              <a:t>Only title and text cross the wire to the model, never user_ids.</a:t>
            </a:r>
          </a:p>
        </p:txBody>
      </p:sp>
      <p:sp>
        <p:nvSpPr>
          <p:cNvPr id="7" name="TextBox 6"/>
          <p:cNvSpPr txBox="1"/>
          <p:nvPr/>
        </p:nvSpPr>
        <p:spPr>
          <a:xfrm>
            <a:off x="6278727" y="1554480"/>
            <a:ext cx="5272887" cy="274320"/>
          </a:xfrm>
          <a:prstGeom prst="rect">
            <a:avLst/>
          </a:prstGeom>
          <a:noFill/>
        </p:spPr>
        <p:txBody>
          <a:bodyPr wrap="square" anchor="t" lIns="0" rIns="0" tIns="0" bIns="0">
            <a:spAutoFit/>
          </a:bodyPr>
          <a:lstStyle/>
          <a:p>
            <a:pPr algn="l">
              <a:lnSpc>
                <a:spcPct val="108000"/>
              </a:lnSpc>
              <a:spcAft>
                <a:spcPts val="0"/>
              </a:spcAft>
            </a:pPr>
            <a:r>
              <a:rPr sz="1100" b="1">
                <a:solidFill>
                  <a:srgbClr val="C8553D"/>
                </a:solidFill>
                <a:latin typeface="Arial"/>
              </a:rPr>
              <a:t>FOUR DECLINES, SAID OUT LOUD</a:t>
            </a:r>
          </a:p>
        </p:txBody>
      </p:sp>
      <p:sp>
        <p:nvSpPr>
          <p:cNvPr id="8" name="TextBox 7"/>
          <p:cNvSpPr txBox="1"/>
          <p:nvPr/>
        </p:nvSpPr>
        <p:spPr>
          <a:xfrm>
            <a:off x="6278727" y="1920240"/>
            <a:ext cx="5272887" cy="4389120"/>
          </a:xfrm>
          <a:prstGeom prst="rect">
            <a:avLst/>
          </a:prstGeom>
          <a:noFill/>
        </p:spPr>
        <p:txBody>
          <a:bodyPr wrap="square" anchor="t" lIns="0" rIns="0" tIns="0" bIns="0">
            <a:spAutoFit/>
          </a:bodyPr>
          <a:lstStyle/>
          <a:p>
            <a:pPr algn="l">
              <a:lnSpc>
                <a:spcPct val="108000"/>
              </a:lnSpc>
              <a:spcAft>
                <a:spcPts val="1400"/>
              </a:spcAft>
            </a:pPr>
            <a:r>
              <a:rPr sz="1800" b="1">
                <a:solidFill>
                  <a:srgbClr val="14213D"/>
                </a:solidFill>
                <a:latin typeface="Arial"/>
              </a:rPr>
              <a:t>Kafka Connect Elasticsearch sink — dropped for time. </a:t>
            </a:r>
            <a:r>
              <a:rPr sz="1800" b="0">
                <a:solidFill>
                  <a:srgbClr val="5B6472"/>
                </a:solidFill>
                <a:latin typeface="Arial"/>
              </a:rPr>
              <a:t>The schedule, not the merits.</a:t>
            </a:r>
          </a:p>
          <a:p>
            <a:pPr algn="l">
              <a:lnSpc>
                <a:spcPct val="108000"/>
              </a:lnSpc>
              <a:spcAft>
                <a:spcPts val="1400"/>
              </a:spcAft>
            </a:pPr>
            <a:r>
              <a:rPr sz="1800" b="1">
                <a:solidFill>
                  <a:srgbClr val="14213D"/>
                </a:solidFill>
                <a:latin typeface="Arial"/>
              </a:rPr>
              <a:t>Single-node HDFS — declined on resources, and MinIO is not equivalent. </a:t>
            </a:r>
            <a:r>
              <a:rPr sz="1800" b="0">
                <a:solidFill>
                  <a:srgbClr val="5B6472"/>
                </a:solidFill>
                <a:latin typeface="Arial"/>
              </a:rPr>
              <a:t>No block replication, no atomic rename; hence Postgres holds the Iceberg catalogue.</a:t>
            </a:r>
          </a:p>
          <a:p>
            <a:pPr algn="l">
              <a:lnSpc>
                <a:spcPct val="108000"/>
              </a:lnSpc>
              <a:spcAft>
                <a:spcPts val="1400"/>
              </a:spcAft>
            </a:pPr>
            <a:r>
              <a:rPr sz="1800" b="1">
                <a:solidFill>
                  <a:srgbClr val="14213D"/>
                </a:solidFill>
                <a:latin typeface="Arial"/>
              </a:rPr>
              <a:t>Sqoop and Pig — on the course’s own slide. </a:t>
            </a:r>
            <a:r>
              <a:rPr sz="1800" b="0">
                <a:solidFill>
                  <a:srgbClr val="5B6472"/>
                </a:solidFill>
                <a:latin typeface="Arial"/>
              </a:rPr>
              <a:t>“Apache Sqoop moved into the Attic in June 2021”; Spark SQL does Pig’s transform.</a:t>
            </a:r>
          </a:p>
          <a:p>
            <a:pPr algn="l">
              <a:lnSpc>
                <a:spcPct val="108000"/>
              </a:lnSpc>
              <a:spcAft>
                <a:spcPts val="1400"/>
              </a:spcAft>
            </a:pPr>
            <a:r>
              <a:rPr sz="1800" b="1">
                <a:solidFill>
                  <a:srgbClr val="14213D"/>
                </a:solidFill>
                <a:latin typeface="Arial"/>
              </a:rPr>
              <a:t>Oozie — an opinion, and I own it as one. </a:t>
            </a:r>
            <a:r>
              <a:rPr sz="1800" b="0">
                <a:solidFill>
                  <a:srgbClr val="5B6472"/>
                </a:solidFill>
                <a:latin typeface="Arial"/>
              </a:rPr>
              <a:t>Spark and the run ledger fill the role, but Oozie is not retired.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